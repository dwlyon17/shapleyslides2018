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4"/>
    <p:sldMasterId id="2147483750" r:id="rId5"/>
  </p:sldMasterIdLst>
  <p:notesMasterIdLst>
    <p:notesMasterId r:id="rId43"/>
  </p:notesMasterIdLst>
  <p:handoutMasterIdLst>
    <p:handoutMasterId r:id="rId44"/>
  </p:handoutMasterIdLst>
  <p:sldIdLst>
    <p:sldId id="684" r:id="rId6"/>
    <p:sldId id="735" r:id="rId7"/>
    <p:sldId id="746" r:id="rId8"/>
    <p:sldId id="736" r:id="rId9"/>
    <p:sldId id="737" r:id="rId10"/>
    <p:sldId id="687" r:id="rId11"/>
    <p:sldId id="740" r:id="rId12"/>
    <p:sldId id="741" r:id="rId13"/>
    <p:sldId id="742" r:id="rId14"/>
    <p:sldId id="689" r:id="rId15"/>
    <p:sldId id="782" r:id="rId16"/>
    <p:sldId id="803" r:id="rId17"/>
    <p:sldId id="836" r:id="rId18"/>
    <p:sldId id="749" r:id="rId19"/>
    <p:sldId id="748" r:id="rId20"/>
    <p:sldId id="750" r:id="rId21"/>
    <p:sldId id="753" r:id="rId22"/>
    <p:sldId id="840" r:id="rId23"/>
    <p:sldId id="788" r:id="rId24"/>
    <p:sldId id="754" r:id="rId25"/>
    <p:sldId id="829" r:id="rId26"/>
    <p:sldId id="756" r:id="rId27"/>
    <p:sldId id="785" r:id="rId28"/>
    <p:sldId id="777" r:id="rId29"/>
    <p:sldId id="762" r:id="rId30"/>
    <p:sldId id="764" r:id="rId31"/>
    <p:sldId id="765" r:id="rId32"/>
    <p:sldId id="795" r:id="rId33"/>
    <p:sldId id="769" r:id="rId34"/>
    <p:sldId id="849" r:id="rId35"/>
    <p:sldId id="844" r:id="rId36"/>
    <p:sldId id="851" r:id="rId37"/>
    <p:sldId id="845" r:id="rId38"/>
    <p:sldId id="774" r:id="rId39"/>
    <p:sldId id="798" r:id="rId40"/>
    <p:sldId id="811" r:id="rId41"/>
    <p:sldId id="859" r:id="rId42"/>
  </p:sldIdLst>
  <p:sldSz cx="9144000" cy="5143500" type="screen16x9"/>
  <p:notesSz cx="9051925" cy="7077075"/>
  <p:defaultTextStyle>
    <a:defPPr>
      <a:defRPr lang="nl-NL"/>
    </a:defPPr>
    <a:lvl1pPr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21">
          <p15:clr>
            <a:srgbClr val="A4A3A4"/>
          </p15:clr>
        </p15:guide>
        <p15:guide id="2" pos="5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229">
          <p15:clr>
            <a:srgbClr val="A4A3A4"/>
          </p15:clr>
        </p15:guide>
        <p15:guide id="4" pos="28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oros Antoniades" initials="CA" lastIdx="123" clrIdx="0"/>
  <p:cmAuthor id="1" name="p.janssen" initials="p" lastIdx="1" clrIdx="1"/>
  <p:cmAuthor id="2" name="Sean OConnor" initials="SO" lastIdx="4" clrIdx="2"/>
  <p:cmAuthor id="3" name="Jakob Werner" initials="JW" lastIdx="11" clrIdx="3"/>
  <p:cmAuthor id="4" name="Jeroen Hardon" initials="JH" lastIdx="2" clrIdx="4"/>
  <p:cmAuthor id="5" name="Jack Horne" initials="JH" lastIdx="5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F7F7F7"/>
    <a:srgbClr val="009900"/>
    <a:srgbClr val="00FF00"/>
    <a:srgbClr val="00FF99"/>
    <a:srgbClr val="000000"/>
    <a:srgbClr val="F29754"/>
    <a:srgbClr val="E7F1F8"/>
    <a:srgbClr val="AFBBCF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4" autoAdjust="0"/>
    <p:restoredTop sz="96343" autoAdjust="0"/>
  </p:normalViewPr>
  <p:slideViewPr>
    <p:cSldViewPr snapToGrid="0" snapToObjects="1">
      <p:cViewPr varScale="1">
        <p:scale>
          <a:sx n="145" d="100"/>
          <a:sy n="145" d="100"/>
        </p:scale>
        <p:origin x="1101" y="0"/>
      </p:cViewPr>
      <p:guideLst>
        <p:guide orient="horz" pos="1021"/>
        <p:guide pos="564"/>
      </p:guideLst>
    </p:cSldViewPr>
  </p:slideViewPr>
  <p:outlineViewPr>
    <p:cViewPr>
      <p:scale>
        <a:sx n="33" d="100"/>
        <a:sy n="33" d="100"/>
      </p:scale>
      <p:origin x="0" y="20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-2850" y="-84"/>
      </p:cViewPr>
      <p:guideLst>
        <p:guide orient="horz" pos="2880"/>
        <p:guide pos="2160"/>
        <p:guide orient="horz" pos="2229"/>
        <p:guide pos="285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922501" cy="35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endParaRPr lang="nl-NL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27855" y="1"/>
            <a:ext cx="3922501" cy="35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endParaRPr lang="nl-NL"/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721583"/>
            <a:ext cx="3922501" cy="35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endParaRPr lang="nl-NL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27855" y="6721583"/>
            <a:ext cx="3922501" cy="35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fld id="{4F482CCA-6482-4301-B04E-B5C77F44AB0B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4693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68525" y="531813"/>
            <a:ext cx="4714875" cy="26527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27855" y="6721583"/>
            <a:ext cx="3922501" cy="35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fld id="{D714FE2F-1C8A-4F9A-BF5B-BEA0CBA0CD4F}" type="slidenum">
              <a:rPr lang="nl-NL"/>
              <a:pPr/>
              <a:t>‹#›</a:t>
            </a:fld>
            <a:endParaRPr lang="nl-NL"/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>
          <a:xfrm>
            <a:off x="502887" y="3361612"/>
            <a:ext cx="8046155" cy="31846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31013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915" y="400050"/>
            <a:ext cx="7742237" cy="391257"/>
          </a:xfrm>
        </p:spPr>
        <p:txBody>
          <a:bodyPr>
            <a:noAutofit/>
          </a:bodyPr>
          <a:lstStyle/>
          <a:p>
            <a:r>
              <a:rPr lang="en-US" noProof="0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6915" y="1186961"/>
            <a:ext cx="7742237" cy="3163583"/>
          </a:xfrm>
        </p:spPr>
        <p:txBody>
          <a:bodyPr>
            <a:noAutofit/>
          </a:bodyPr>
          <a:lstStyle>
            <a:lvl3pPr marL="985838" indent="-179388">
              <a:buClr>
                <a:schemeClr val="accent1"/>
              </a:buClr>
              <a:buFont typeface="Lucida Grande"/>
              <a:buChar char="»"/>
              <a:defRPr/>
            </a:lvl3pPr>
            <a:lvl4pPr marL="1433513" indent="-179388">
              <a:buClr>
                <a:schemeClr val="accent1"/>
              </a:buClr>
              <a:buFont typeface="Lucida Grande"/>
              <a:buChar char="»"/>
              <a:defRPr sz="1400"/>
            </a:lvl4pPr>
            <a:lvl5pPr marL="1792288" indent="-179388">
              <a:buClr>
                <a:schemeClr val="accent1"/>
              </a:buClr>
              <a:buFont typeface="Lucida Grande"/>
              <a:buChar char="»"/>
              <a:defRPr sz="1200"/>
            </a:lvl5pPr>
          </a:lstStyle>
          <a:p>
            <a:pPr lvl="0"/>
            <a:r>
              <a:rPr lang="en-US" noProof="0" dirty="0"/>
              <a:t>Click to edit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4889550"/>
            <a:ext cx="1043609" cy="253950"/>
          </a:xfrm>
          <a:solidFill>
            <a:srgbClr val="00FF99"/>
          </a:solidFill>
        </p:spPr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5094B349-2FA9-4691-A40D-829E22088964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5" name="Slide Number Placeholder 3"/>
          <p:cNvSpPr txBox="1">
            <a:spLocks/>
          </p:cNvSpPr>
          <p:nvPr userDrawn="1"/>
        </p:nvSpPr>
        <p:spPr bwMode="auto">
          <a:xfrm>
            <a:off x="696914" y="4897908"/>
            <a:ext cx="8447085" cy="253950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</a:t>
            </a:r>
            <a:r>
              <a:rPr lang="en-US" sz="1200" dirty="0"/>
              <a:t>2018 Sawtooth Software Conference                                     Lyon: Shapley Values:</a:t>
            </a:r>
            <a:r>
              <a:rPr lang="en-US" sz="1200" baseline="0" dirty="0"/>
              <a:t> Easy, Useful &amp; Intuitive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03940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Content in 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96915" y="1187055"/>
            <a:ext cx="3522663" cy="3163490"/>
          </a:xfrm>
        </p:spPr>
        <p:txBody>
          <a:bodyPr lIns="0" tIns="0" rIns="0" bIns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24426" y="1187055"/>
            <a:ext cx="3514725" cy="316349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2007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in 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96916" y="1190677"/>
            <a:ext cx="2116623" cy="316151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0462" y="1190677"/>
            <a:ext cx="2108690" cy="316151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3516923" y="1190677"/>
            <a:ext cx="2110154" cy="316151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965490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in Two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96914" y="1187055"/>
            <a:ext cx="4930774" cy="316349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5" name="Text Placeholder 2"/>
          <p:cNvSpPr>
            <a:spLocks noGrp="1"/>
          </p:cNvSpPr>
          <p:nvPr>
            <p:ph type="body" sz="half" idx="11" hasCustomPrompt="1"/>
          </p:nvPr>
        </p:nvSpPr>
        <p:spPr>
          <a:xfrm>
            <a:off x="6330951" y="1187055"/>
            <a:ext cx="2108200" cy="316349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541151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in Two Colum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3516314" y="1187055"/>
            <a:ext cx="4922838" cy="316349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0" name="Text Placeholder 2"/>
          <p:cNvSpPr>
            <a:spLocks noGrp="1"/>
          </p:cNvSpPr>
          <p:nvPr>
            <p:ph type="body" sz="half" idx="12" hasCustomPrompt="1"/>
          </p:nvPr>
        </p:nvSpPr>
        <p:spPr>
          <a:xfrm>
            <a:off x="696914" y="1187053"/>
            <a:ext cx="2108200" cy="316349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554410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915" y="400050"/>
            <a:ext cx="7742237" cy="391716"/>
          </a:xfrm>
        </p:spPr>
        <p:txBody>
          <a:bodyPr anchor="t">
            <a:noAutofit/>
          </a:bodyPr>
          <a:lstStyle>
            <a:lvl1pPr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6915" y="1187054"/>
            <a:ext cx="7742237" cy="2374106"/>
          </a:xfrm>
        </p:spPr>
        <p:txBody>
          <a:bodyPr/>
          <a:lstStyle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94B349-2FA9-4691-A40D-829E2208896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65" name="Text Placeholder 264"/>
          <p:cNvSpPr>
            <a:spLocks noGrp="1"/>
          </p:cNvSpPr>
          <p:nvPr>
            <p:ph type="body" sz="quarter" idx="11" hasCustomPrompt="1"/>
          </p:nvPr>
        </p:nvSpPr>
        <p:spPr>
          <a:xfrm>
            <a:off x="696914" y="3956448"/>
            <a:ext cx="7743825" cy="39528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buNone/>
              <a:defRPr sz="2800" b="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3591952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in Two Columns and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915" y="400050"/>
            <a:ext cx="7742237" cy="39171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8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6914" y="1187054"/>
            <a:ext cx="3522662" cy="2374106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94B349-2FA9-4691-A40D-829E2208896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65" name="Text Placeholder 264"/>
          <p:cNvSpPr>
            <a:spLocks noGrp="1"/>
          </p:cNvSpPr>
          <p:nvPr>
            <p:ph type="body" sz="quarter" idx="11" hasCustomPrompt="1"/>
          </p:nvPr>
        </p:nvSpPr>
        <p:spPr>
          <a:xfrm>
            <a:off x="696914" y="3956448"/>
            <a:ext cx="7743825" cy="395287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buNone/>
              <a:defRPr sz="2800" b="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2" name="Content Placeholder 2"/>
          <p:cNvSpPr>
            <a:spLocks noGrp="1"/>
          </p:cNvSpPr>
          <p:nvPr>
            <p:ph idx="12" hasCustomPrompt="1"/>
          </p:nvPr>
        </p:nvSpPr>
        <p:spPr>
          <a:xfrm>
            <a:off x="4916488" y="1187054"/>
            <a:ext cx="3522662" cy="2374106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946794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6D75A1-0CAB-4635-8D5F-5993BFDE48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0568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8D0DEC-F0EC-4271-9DCB-4FE9D78CBA7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7692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6915" y="1582801"/>
            <a:ext cx="3522663" cy="2767743"/>
          </a:xfrm>
        </p:spPr>
        <p:txBody>
          <a:bodyPr tIns="14400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4426" y="1582801"/>
            <a:ext cx="3514725" cy="2767743"/>
          </a:xfrm>
        </p:spPr>
        <p:txBody>
          <a:bodyPr tIns="14400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1" hasCustomPrompt="1"/>
          </p:nvPr>
        </p:nvSpPr>
        <p:spPr>
          <a:xfrm>
            <a:off x="696913" y="1186594"/>
            <a:ext cx="3522662" cy="39646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tx2"/>
                </a:solidFill>
              </a:defRPr>
            </a:lvl1pPr>
            <a:lvl2pPr marL="447675" indent="0">
              <a:buNone/>
              <a:defRPr sz="2800"/>
            </a:lvl2pPr>
            <a:lvl3pPr marL="806450" indent="0">
              <a:buNone/>
              <a:defRPr sz="2800"/>
            </a:lvl3pPr>
            <a:lvl4pPr marL="1254125" indent="0">
              <a:buNone/>
              <a:defRPr sz="2800"/>
            </a:lvl4pPr>
            <a:lvl5pPr marL="1612900" indent="0">
              <a:buNone/>
              <a:defRPr sz="2800"/>
            </a:lvl5pPr>
          </a:lstStyle>
          <a:p>
            <a:pPr lvl="0"/>
            <a:r>
              <a:rPr lang="en-US" noProof="0" dirty="0"/>
              <a:t>Click to edit Header</a:t>
            </a:r>
          </a:p>
        </p:txBody>
      </p:sp>
      <p:sp>
        <p:nvSpPr>
          <p:cNvPr id="9" name="Tijdelijke aanduiding voor tekst 7"/>
          <p:cNvSpPr>
            <a:spLocks noGrp="1"/>
          </p:cNvSpPr>
          <p:nvPr>
            <p:ph type="body" sz="quarter" idx="12" hasCustomPrompt="1"/>
          </p:nvPr>
        </p:nvSpPr>
        <p:spPr>
          <a:xfrm>
            <a:off x="4916488" y="1186594"/>
            <a:ext cx="3522662" cy="39646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tx2"/>
                </a:solidFill>
              </a:defRPr>
            </a:lvl1pPr>
            <a:lvl2pPr marL="447675" indent="0">
              <a:buNone/>
              <a:defRPr sz="2800"/>
            </a:lvl2pPr>
            <a:lvl3pPr marL="806450" indent="0">
              <a:buNone/>
              <a:defRPr sz="2800"/>
            </a:lvl3pPr>
            <a:lvl4pPr marL="1254125" indent="0">
              <a:buNone/>
              <a:defRPr sz="2800"/>
            </a:lvl4pPr>
            <a:lvl5pPr marL="1612900" indent="0">
              <a:buNone/>
              <a:defRPr sz="2800"/>
            </a:lvl5pPr>
          </a:lstStyle>
          <a:p>
            <a:pPr lvl="0"/>
            <a:r>
              <a:rPr lang="en-US" noProof="0"/>
              <a:t>Click to edit Header</a:t>
            </a:r>
          </a:p>
        </p:txBody>
      </p:sp>
    </p:spTree>
    <p:extLst>
      <p:ext uri="{BB962C8B-B14F-4D97-AF65-F5344CB8AC3E}">
        <p14:creationId xmlns:p14="http://schemas.microsoft.com/office/powerpoint/2010/main" val="280362856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73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92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3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22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01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7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95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44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04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723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2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216" name="Rectangle 384"/>
          <p:cNvSpPr>
            <a:spLocks noGrp="1" noChangeArrowheads="1"/>
          </p:cNvSpPr>
          <p:nvPr>
            <p:ph type="title"/>
          </p:nvPr>
        </p:nvSpPr>
        <p:spPr bwMode="auto">
          <a:xfrm>
            <a:off x="696915" y="400051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/>
              <a:t>Click to edit</a:t>
            </a:r>
          </a:p>
        </p:txBody>
      </p:sp>
      <p:sp>
        <p:nvSpPr>
          <p:cNvPr id="1017217" name="Rectangle 38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6915" y="1186961"/>
            <a:ext cx="7742237" cy="3163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/>
              <a:t>Click to edit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17218" name="Rectangle 38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4889550"/>
            <a:ext cx="9144000" cy="253950"/>
          </a:xfrm>
          <a:prstGeom prst="rect">
            <a:avLst/>
          </a:prstGeom>
          <a:solidFill>
            <a:srgbClr val="00FF99">
              <a:alpha val="83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spcBef>
                <a:spcPct val="0"/>
              </a:spcBef>
              <a:spcAft>
                <a:spcPct val="0"/>
              </a:spcAft>
              <a:defRPr sz="1400" b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D6B2546D-D17B-417A-B1D0-EBC78EF02C60}" type="slidenum">
              <a:rPr lang="en-US" smtClean="0"/>
              <a:pPr/>
              <a:t>‹#›</a:t>
            </a:fld>
            <a:r>
              <a:rPr lang="en-US" dirty="0"/>
              <a:t>                          2016 </a:t>
            </a:r>
            <a:r>
              <a:rPr lang="en-US" dirty="0" err="1"/>
              <a:t>Sawtooth</a:t>
            </a:r>
            <a:r>
              <a:rPr lang="en-US" dirty="0"/>
              <a:t> Software Conference                         Lyon: Naive Bayes Classifiers for </a:t>
            </a:r>
            <a:r>
              <a:rPr lang="en-US" dirty="0" err="1"/>
              <a:t>MaxDiff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31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37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</p:sldLayoutIdLst>
  <p:transition spd="med"/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>
          <a:solidFill>
            <a:schemeClr val="tx2"/>
          </a:solidFill>
          <a:effectLst/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1800">
          <a:solidFill>
            <a:schemeClr val="tx1"/>
          </a:solidFill>
          <a:latin typeface="+mn-lt"/>
          <a:cs typeface="+mn-cs"/>
        </a:defRPr>
      </a:lvl2pPr>
      <a:lvl3pPr marL="98583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433513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7922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1200">
          <a:solidFill>
            <a:schemeClr val="tx1"/>
          </a:solidFill>
          <a:latin typeface="+mn-lt"/>
          <a:cs typeface="+mn-cs"/>
        </a:defRPr>
      </a:lvl5pPr>
      <a:lvl6pPr marL="22494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Font typeface="Arial Unicode MS" pitchFamily="34" charset="-128"/>
        <a:buChar char="-"/>
        <a:defRPr sz="1400">
          <a:solidFill>
            <a:schemeClr val="tx1"/>
          </a:solidFill>
          <a:latin typeface="+mn-lt"/>
          <a:cs typeface="+mn-cs"/>
        </a:defRPr>
      </a:lvl6pPr>
      <a:lvl7pPr marL="27066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Font typeface="Arial Unicode MS" pitchFamily="34" charset="-128"/>
        <a:buChar char="-"/>
        <a:defRPr sz="1400">
          <a:solidFill>
            <a:schemeClr val="tx1"/>
          </a:solidFill>
          <a:latin typeface="+mn-lt"/>
          <a:cs typeface="+mn-cs"/>
        </a:defRPr>
      </a:lvl7pPr>
      <a:lvl8pPr marL="31638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Font typeface="Arial Unicode MS" pitchFamily="34" charset="-128"/>
        <a:buChar char="-"/>
        <a:defRPr sz="1400">
          <a:solidFill>
            <a:schemeClr val="tx1"/>
          </a:solidFill>
          <a:latin typeface="+mn-lt"/>
          <a:cs typeface="+mn-cs"/>
        </a:defRPr>
      </a:lvl8pPr>
      <a:lvl9pPr marL="36210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Font typeface="Arial Unicode MS" pitchFamily="34" charset="-128"/>
        <a:buChar char="-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14DC1-73F2-4627-88FE-DAD3CFD46E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1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35.png"/><Relationship Id="rId5" Type="http://schemas.openxmlformats.org/officeDocument/2006/relationships/image" Target="../media/image390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8.emf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546411"/>
            <a:ext cx="7742237" cy="4103648"/>
          </a:xfrm>
        </p:spPr>
        <p:txBody>
          <a:bodyPr/>
          <a:lstStyle/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32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Shapley Values: Easy, Useful &amp; Intuitive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2018 Sawtooth Software Conference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Orlando, FL                   March 7, 2018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David W. Lyon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Principal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Aurora Market Modeling, LLC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</a:t>
            </a:fld>
            <a:endParaRPr 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8744604" y="4496170"/>
            <a:ext cx="404776" cy="26161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18022758"/>
      </p:ext>
    </p:extLst>
  </p:cSld>
  <p:clrMapOvr>
    <a:masterClrMapping/>
  </p:clrMapOvr>
  <p:transition spd="med" advTm="7065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Shapley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1089164"/>
            <a:ext cx="7742237" cy="3163583"/>
          </a:xfrm>
        </p:spPr>
        <p:txBody>
          <a:bodyPr/>
          <a:lstStyle/>
          <a:p>
            <a:r>
              <a:rPr lang="en-US" sz="1800" dirty="0"/>
              <a:t>A useful way of </a:t>
            </a:r>
            <a:r>
              <a:rPr lang="en-US" sz="1800" b="1" i="1" dirty="0"/>
              <a:t>summarizing and understanding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rgbClr val="C00000"/>
                </a:solidFill>
              </a:rPr>
              <a:t>any</a:t>
            </a:r>
            <a:r>
              <a:rPr lang="en-US" sz="1800" dirty="0"/>
              <a:t> analysis that evaluates </a:t>
            </a:r>
            <a:r>
              <a:rPr lang="en-US" sz="1800" b="1" i="1" dirty="0"/>
              <a:t>combinations</a:t>
            </a:r>
            <a:r>
              <a:rPr lang="en-US" sz="1800" i="1" dirty="0"/>
              <a:t> </a:t>
            </a:r>
            <a:r>
              <a:rPr lang="en-US" sz="1800" dirty="0"/>
              <a:t>of items</a:t>
            </a:r>
          </a:p>
          <a:p>
            <a:pPr lvl="1"/>
            <a:r>
              <a:rPr lang="en-US" sz="1600" dirty="0"/>
              <a:t>Not just TURF, not just KDRs, but all sorts of things</a:t>
            </a:r>
          </a:p>
          <a:p>
            <a:pPr lvl="1"/>
            <a:r>
              <a:rPr lang="en-US" sz="1600" dirty="0"/>
              <a:t>Not self-contained, but built on top of some other underlying analysis</a:t>
            </a:r>
          </a:p>
          <a:p>
            <a:pPr>
              <a:spcBef>
                <a:spcPts val="1200"/>
              </a:spcBef>
            </a:pPr>
            <a:r>
              <a:rPr lang="en-US" sz="1800" dirty="0"/>
              <a:t>A way of </a:t>
            </a:r>
            <a:r>
              <a:rPr lang="en-US" sz="1800" b="1" i="1" dirty="0"/>
              <a:t>shifting the focus </a:t>
            </a:r>
            <a:r>
              <a:rPr lang="en-US" sz="1800" dirty="0"/>
              <a:t>from combinations to items</a:t>
            </a:r>
          </a:p>
          <a:p>
            <a:pPr lvl="1"/>
            <a:r>
              <a:rPr lang="en-US" sz="1600" dirty="0"/>
              <a:t>Zillions of combinations, few enough items to actually deal with</a:t>
            </a:r>
          </a:p>
          <a:p>
            <a:pPr lvl="1"/>
            <a:r>
              <a:rPr lang="en-US" sz="1600" dirty="0"/>
              <a:t>A shift that is usually (not always) helpful to clients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</a:t>
            </a:fld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919330"/>
      </p:ext>
    </p:extLst>
  </p:cSld>
  <p:clrMapOvr>
    <a:masterClrMapping/>
  </p:clrMapOvr>
  <p:transition spd="med" advTm="72739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1089164"/>
            <a:ext cx="7742237" cy="3482836"/>
          </a:xfrm>
          <a:solidFill>
            <a:schemeClr val="bg1"/>
          </a:solidFill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Intuitive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driver regressions – easy intuition about orderings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From orderings to combinations and sizes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Useful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Summary power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Easy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Computational Strategies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A Tangent:  TURF on MaxDiff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32431157"/>
      </p:ext>
    </p:extLst>
  </p:cSld>
  <p:clrMapOvr>
    <a:masterClrMapping/>
  </p:clrMapOvr>
  <p:transition spd="med" advTm="33549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Driver Regressions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005081"/>
                <a:ext cx="7742237" cy="31635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KDRs regress some overall measure on individual feature/item ratings.  Key question: which features matter, how much? </a:t>
                </a:r>
              </a:p>
              <a:p>
                <a:pPr marL="0" indent="0">
                  <a:spcBef>
                    <a:spcPts val="900"/>
                  </a:spcBef>
                  <a:buNone/>
                </a:pPr>
                <a:r>
                  <a:rPr lang="en-US" sz="1800" dirty="0"/>
                  <a:t>Simple-minded answer – measure feature importance by how much the regression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1800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goes up when we add that variable.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005081"/>
                <a:ext cx="7742237" cy="3163583"/>
              </a:xfrm>
              <a:blipFill rotWithShape="1">
                <a:blip r:embed="rId3"/>
                <a:stretch>
                  <a:fillRect l="-1811" t="-2312" r="-1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4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6517581"/>
                  </p:ext>
                </p:extLst>
              </p:nvPr>
            </p:nvGraphicFramePr>
            <p:xfrm>
              <a:off x="906975" y="2515702"/>
              <a:ext cx="3288195" cy="1479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44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3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13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2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Variable</a:t>
                          </a:r>
                          <a:r>
                            <a:rPr lang="en-US" sz="1400" baseline="0" dirty="0"/>
                            <a:t> (Item)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latin typeface="Cambria Math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dirty="0"/>
                            <a:t>Δ</a:t>
                          </a:r>
                          <a:r>
                            <a:rPr lang="en-US" sz="140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+0.27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B (now AB)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+0.05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 (now ABC)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+0.02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6517581"/>
                  </p:ext>
                </p:extLst>
              </p:nvPr>
            </p:nvGraphicFramePr>
            <p:xfrm>
              <a:off x="906975" y="2515702"/>
              <a:ext cx="3288195" cy="1479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4487"/>
                    <a:gridCol w="872358"/>
                    <a:gridCol w="821350"/>
                  </a:tblGrid>
                  <a:tr h="32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Variable</a:t>
                          </a:r>
                          <a:r>
                            <a:rPr lang="en-US" sz="1400" baseline="0" dirty="0" smtClean="0"/>
                            <a:t> (Item)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83217" t="-1887" r="-95105" b="-3811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0000" t="-1887" r="-741" b="-381132"/>
                          </a:stretch>
                        </a:blipFill>
                      </a:tcPr>
                    </a:tc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0.27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+0.27</a:t>
                          </a:r>
                          <a:endParaRPr lang="en-US" b="1" dirty="0"/>
                        </a:p>
                      </a:txBody>
                      <a:tcPr/>
                    </a:tc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B (now AB)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0.32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+0.05</a:t>
                          </a:r>
                          <a:endParaRPr lang="en-US" b="1" dirty="0"/>
                        </a:p>
                      </a:txBody>
                      <a:tcPr/>
                    </a:tc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 (now ABC)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0.34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+0.02</a:t>
                          </a:r>
                          <a:endParaRPr lang="en-US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7761517"/>
                  </p:ext>
                </p:extLst>
              </p:nvPr>
            </p:nvGraphicFramePr>
            <p:xfrm>
              <a:off x="4485747" y="2524679"/>
              <a:ext cx="3288195" cy="1479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44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3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13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2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Variable</a:t>
                          </a:r>
                          <a:r>
                            <a:rPr lang="en-US" sz="1400" baseline="0" dirty="0"/>
                            <a:t> (Item)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latin typeface="Cambria Math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dirty="0"/>
                            <a:t>Δ</a:t>
                          </a:r>
                          <a:r>
                            <a:rPr lang="en-US" sz="140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0.24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+0.24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B (now BC)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0.30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+0.07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 (now ABC)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0.33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+0.03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7761517"/>
                  </p:ext>
                </p:extLst>
              </p:nvPr>
            </p:nvGraphicFramePr>
            <p:xfrm>
              <a:off x="4485747" y="2524679"/>
              <a:ext cx="3288195" cy="1479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4487"/>
                    <a:gridCol w="872358"/>
                    <a:gridCol w="821350"/>
                  </a:tblGrid>
                  <a:tr h="32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Variable</a:t>
                          </a:r>
                          <a:r>
                            <a:rPr lang="en-US" sz="1400" baseline="0" dirty="0" smtClean="0"/>
                            <a:t> (Item)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183217" t="-1887" r="-95105" b="-383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00000" t="-1887" r="-741" b="-383019"/>
                          </a:stretch>
                        </a:blipFill>
                      </a:tcPr>
                    </a:tc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0.24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+0.24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B </a:t>
                          </a:r>
                          <a:r>
                            <a:rPr lang="en-US" sz="1600" dirty="0" smtClean="0"/>
                            <a:t>(now </a:t>
                          </a:r>
                          <a:r>
                            <a:rPr lang="en-US" sz="1600" dirty="0" smtClean="0"/>
                            <a:t>BC)</a:t>
                          </a:r>
                          <a:endParaRPr lang="en-US" sz="160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0.30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+</a:t>
                          </a:r>
                          <a:r>
                            <a:rPr lang="en-US" b="1" dirty="0" smtClean="0"/>
                            <a:t>0.07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85914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A </a:t>
                          </a:r>
                          <a:r>
                            <a:rPr lang="en-US" sz="1600" dirty="0" smtClean="0"/>
                            <a:t>(now </a:t>
                          </a:r>
                          <a:r>
                            <a:rPr lang="en-US" sz="1600" dirty="0" smtClean="0"/>
                            <a:t>ABC)</a:t>
                          </a:r>
                          <a:endParaRPr lang="en-US" sz="1600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0.33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+0.03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696915" y="4276119"/>
            <a:ext cx="5286062" cy="369332"/>
          </a:xfrm>
          <a:prstGeom prst="rect">
            <a:avLst/>
          </a:prstGeom>
          <a:noFill/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rgbClr val="C00000"/>
                </a:solidFill>
              </a:rPr>
              <a:t>But, order matters!  How to choose the right order?</a:t>
            </a:r>
            <a:endParaRPr lang="en-US" sz="1400" dirty="0"/>
          </a:p>
        </p:txBody>
      </p:sp>
      <p:sp>
        <p:nvSpPr>
          <p:cNvPr id="8" name="Oval 7"/>
          <p:cNvSpPr/>
          <p:nvPr/>
        </p:nvSpPr>
        <p:spPr bwMode="auto">
          <a:xfrm>
            <a:off x="3415862" y="3599726"/>
            <a:ext cx="779308" cy="41752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6922604" y="2822027"/>
            <a:ext cx="779308" cy="41752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4195170" y="3030788"/>
            <a:ext cx="2727434" cy="777699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734893885"/>
      </p:ext>
    </p:extLst>
  </p:cSld>
  <p:clrMapOvr>
    <a:masterClrMapping/>
  </p:clrMapOvr>
  <p:transition spd="med" advTm="420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 Over Orderings (“AOO”)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060837"/>
                <a:ext cx="7742237" cy="31635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Order matters; we can’t just arbitrarily pick one.  So,</a:t>
                </a:r>
              </a:p>
              <a:p>
                <a:pPr marL="0" indent="0">
                  <a:buNone/>
                </a:pPr>
                <a:r>
                  <a:rPr lang="en-US" sz="1800" i="1" dirty="0"/>
                  <a:t>	</a:t>
                </a:r>
                <a:r>
                  <a:rPr lang="en-US" sz="1800" b="1" i="1" dirty="0">
                    <a:solidFill>
                      <a:schemeClr val="accent5">
                        <a:lumMod val="50000"/>
                      </a:schemeClr>
                    </a:solidFill>
                  </a:rPr>
                  <a:t>Average over all possible orderings!</a:t>
                </a:r>
              </a:p>
              <a:p>
                <a:r>
                  <a:rPr lang="en-US" sz="1600" dirty="0"/>
                  <a:t>Popularized by William </a:t>
                </a:r>
                <a:r>
                  <a:rPr lang="en-US" sz="1600" dirty="0" err="1"/>
                  <a:t>Kruskal</a:t>
                </a:r>
                <a:r>
                  <a:rPr lang="en-US" sz="1600" dirty="0"/>
                  <a:t> (1987) with slightly different criterion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sz="1600" b="1" i="1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dirty="0"/>
                  <a:t>.</a:t>
                </a:r>
              </a:p>
              <a:p>
                <a:r>
                  <a:rPr lang="en-US" sz="1600" dirty="0"/>
                  <a:t>Commonly known as “Shapley Value regression” or “</a:t>
                </a:r>
                <a:r>
                  <a:rPr lang="en-US" sz="1600" dirty="0" err="1"/>
                  <a:t>Kruskal</a:t>
                </a:r>
                <a:r>
                  <a:rPr lang="en-US" sz="1600" dirty="0"/>
                  <a:t> relative importance.”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800" dirty="0"/>
                  <a:t>Intuitively appealing and “fair.”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060837"/>
                <a:ext cx="7742237" cy="3163583"/>
              </a:xfrm>
              <a:blipFill rotWithShape="1">
                <a:blip r:embed="rId3"/>
                <a:stretch>
                  <a:fillRect l="-1811" t="-2119" r="-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0037948"/>
                  </p:ext>
                </p:extLst>
              </p:nvPr>
            </p:nvGraphicFramePr>
            <p:xfrm>
              <a:off x="696915" y="3106514"/>
              <a:ext cx="7921578" cy="16819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58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13"/>
                        </a:ext>
                      </a:extLst>
                    </a:gridCol>
                  </a:tblGrid>
                  <a:tr h="295427">
                    <a:tc gridSpan="12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Incremental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sz="16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600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by order of entry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5427">
                    <a:tc gridSpan="2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A-B-C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A-C-B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B-A-C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B-C-A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C-A-B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C-B-A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Averages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542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.26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.26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.22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.22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542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.15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542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.08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.08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.08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0037948"/>
                  </p:ext>
                </p:extLst>
              </p:nvPr>
            </p:nvGraphicFramePr>
            <p:xfrm>
              <a:off x="696915" y="3106514"/>
              <a:ext cx="7921578" cy="16819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</a:tblGrid>
                  <a:tr h="340805">
                    <a:tc gridSpan="1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3571" r="-16697" b="-41607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35280">
                    <a:tc gridSpan="2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A-B-C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A-C-B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B-A-C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B-C-A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C-A-B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C-B-A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Averages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.26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.26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B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.22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B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.22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.17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.17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.16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.09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.06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.13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.06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.15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B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.11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B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.12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.01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B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.04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.01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.08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B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.04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.08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.08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589315"/>
                  </p:ext>
                </p:extLst>
              </p:nvPr>
            </p:nvGraphicFramePr>
            <p:xfrm>
              <a:off x="699589" y="3107563"/>
              <a:ext cx="7921578" cy="16819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58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  <a:gridCol w="565827">
                      <a:extLst>
                        <a:ext uri="{9D8B030D-6E8A-4147-A177-3AD203B41FA5}">
                          <a16:colId xmlns:a16="http://schemas.microsoft.com/office/drawing/2014/main" val="20013"/>
                        </a:ext>
                      </a:extLst>
                    </a:gridCol>
                  </a:tblGrid>
                  <a:tr h="295427">
                    <a:tc gridSpan="12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Incremental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sz="16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600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by order of entry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5427">
                    <a:tc gridSpan="2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A-B-C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A-C-B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B-A-C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B-C-A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C-A-B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6: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C-B-A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Averages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542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.26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.26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.22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.22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542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.15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.11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.12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542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.04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.08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.04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.08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.08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589315"/>
                  </p:ext>
                </p:extLst>
              </p:nvPr>
            </p:nvGraphicFramePr>
            <p:xfrm>
              <a:off x="699589" y="3107563"/>
              <a:ext cx="7921578" cy="16819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  <a:gridCol w="565827"/>
                  </a:tblGrid>
                  <a:tr h="340805">
                    <a:tc gridSpan="1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90" t="-3571" r="-16801" b="-41607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35280">
                    <a:tc gridSpan="2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A-B-C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A-C-B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B-A-C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B-C-A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C-A-B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6:</a:t>
                          </a:r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600" dirty="0" smtClean="0">
                              <a:solidFill>
                                <a:schemeClr val="tx1"/>
                              </a:solidFill>
                            </a:rPr>
                            <a:t>C-B-A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BB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Averages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.26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.26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B</a:t>
                          </a:r>
                          <a:endParaRPr lang="en-US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.22</a:t>
                          </a:r>
                          <a:endParaRPr lang="en-US" sz="1600" b="1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B</a:t>
                          </a:r>
                          <a:endParaRPr lang="en-US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.22</a:t>
                          </a:r>
                          <a:endParaRPr lang="en-US" sz="1600" b="1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.17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.17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.16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endParaRPr lang="en-US" sz="16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.09</a:t>
                          </a:r>
                          <a:endParaRPr lang="en-US" sz="16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.06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.13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.06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.15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B</a:t>
                          </a:r>
                          <a:endParaRPr lang="en-US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.11</a:t>
                          </a:r>
                          <a:endParaRPr lang="en-US" sz="1600" b="1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B</a:t>
                          </a:r>
                          <a:endParaRPr lang="en-US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.12</a:t>
                          </a:r>
                          <a:endParaRPr lang="en-US" sz="1600" b="1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6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.01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B</a:t>
                          </a:r>
                          <a:endParaRPr lang="en-US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.04</a:t>
                          </a:r>
                          <a:endParaRPr lang="en-US" sz="1600" b="1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.01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.08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B</a:t>
                          </a:r>
                          <a:endParaRPr lang="en-US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.04</a:t>
                          </a:r>
                          <a:endParaRPr lang="en-US" sz="1600" b="1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A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.08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C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.08</a:t>
                          </a:r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33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6792"/>
    </mc:Choice>
    <mc:Fallback xmlns="">
      <p:transition advTm="56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dirty="0"/>
              <a:t>Side Notes About KDRs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048732"/>
                <a:ext cx="7742237" cy="3163583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Shapley regression is </a:t>
                </a:r>
                <a:r>
                  <a:rPr lang="en-US" sz="1800" b="1" i="1" dirty="0">
                    <a:solidFill>
                      <a:srgbClr val="C00000"/>
                    </a:solidFill>
                  </a:rPr>
                  <a:t>one</a:t>
                </a:r>
                <a:r>
                  <a:rPr lang="en-US" sz="1800" dirty="0"/>
                  <a:t> “reasonable” way to do KDRs.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Also called “dominance analysis” and “LMG” (for Lindeman, </a:t>
                </a:r>
                <a:r>
                  <a:rPr lang="en-US" sz="1600" dirty="0" err="1"/>
                  <a:t>Merenda</a:t>
                </a:r>
                <a:r>
                  <a:rPr lang="en-US" sz="1600" dirty="0"/>
                  <a:t> and Gold, 1980)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Not the </a:t>
                </a:r>
                <a:r>
                  <a:rPr lang="en-US" sz="1800" dirty="0">
                    <a:solidFill>
                      <a:srgbClr val="C00000"/>
                    </a:solidFill>
                  </a:rPr>
                  <a:t>only</a:t>
                </a:r>
                <a:r>
                  <a:rPr lang="en-US" sz="1800" dirty="0"/>
                  <a:t> good way, and arguably not the best.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1800" dirty="0"/>
                  <a:t>For another approach, search for various papers by Jeff Johnson on “relative weights”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800" dirty="0"/>
                  <a:t>Or, see Ben </a:t>
                </a:r>
                <a:r>
                  <a:rPr lang="en-US" sz="1800" dirty="0" err="1"/>
                  <a:t>Cortese</a:t>
                </a:r>
                <a:r>
                  <a:rPr lang="en-US" sz="1800" dirty="0"/>
                  <a:t>’ talk on Bayes Nets KDAs tomorrow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800" dirty="0"/>
                  <a:t>Or, consider random forests, or many other techniques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1800" dirty="0"/>
                  <a:t>See R package </a:t>
                </a:r>
                <a:r>
                  <a:rPr lang="en-US" sz="1800" i="1" dirty="0" err="1"/>
                  <a:t>relaimpo</a:t>
                </a:r>
                <a:r>
                  <a:rPr lang="en-US" sz="1800" dirty="0"/>
                  <a:t> for “fast” SV KDRs for up to 20 to 25 items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~ 1 min for 20, ~ 30 min for 25, on a mediocre laptop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Use “</a:t>
                </a:r>
                <a:r>
                  <a:rPr lang="en-US" sz="1600" dirty="0" err="1"/>
                  <a:t>lmg</a:t>
                </a:r>
                <a:r>
                  <a:rPr lang="en-US" sz="1600" dirty="0"/>
                  <a:t>” option for straight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sz="160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dirty="0"/>
                  <a:t> criterion, as here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048732"/>
                <a:ext cx="7742237" cy="3163583"/>
              </a:xfrm>
              <a:blipFill rotWithShape="1">
                <a:blip r:embed="rId2"/>
                <a:stretch>
                  <a:fillRect l="-1811" t="-2312" b="-21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82733323"/>
      </p:ext>
    </p:extLst>
  </p:cSld>
  <p:clrMapOvr>
    <a:masterClrMapping/>
  </p:clrMapOvr>
  <p:transition spd="med" advTm="1054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dirty="0"/>
              <a:t>Orderings?  What About Combinations?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186961"/>
                <a:ext cx="8194837" cy="3163583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Consider contribution of item F in one ordering: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       </a:t>
                </a:r>
                <a:r>
                  <a:rPr lang="en-US" b="1" dirty="0"/>
                  <a:t>A  M  K  D  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  </a:t>
                </a:r>
                <a:r>
                  <a:rPr lang="en-US" b="1" dirty="0"/>
                  <a:t>B  L  E  C  J  H  I  G    </a:t>
                </a:r>
                <a:r>
                  <a:rPr lang="en-US" sz="1400" dirty="0"/>
                  <a:t>(13 items, so one of 13! = 62.2 billion orders)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1800" dirty="0"/>
                  <a:t>What F adds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𝑟</m:t>
                    </m:r>
                    <m:r>
                      <a:rPr lang="en-US" sz="1800" b="0" i="1" smtClean="0">
                        <a:latin typeface="Cambria Math"/>
                      </a:rPr>
                      <m:t>^2</m:t>
                    </m:r>
                  </m:oMath>
                </a14:m>
                <a:r>
                  <a:rPr lang="en-US" sz="1800" dirty="0"/>
                  <a:t> here is </a:t>
                </a:r>
                <a:r>
                  <a:rPr lang="en-US" sz="1800" dirty="0">
                    <a:solidFill>
                      <a:srgbClr val="C00000"/>
                    </a:solidFill>
                  </a:rPr>
                  <a:t>not</a:t>
                </a:r>
                <a:r>
                  <a:rPr lang="en-US" sz="1800" dirty="0"/>
                  <a:t> affected by the order of B L E C J H I G 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Those could be in any of 8! = 40,320 orders and F gets the same.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1800" dirty="0"/>
                  <a:t>What F adds </a:t>
                </a:r>
                <a:r>
                  <a:rPr lang="en-US" sz="1800" dirty="0">
                    <a:solidFill>
                      <a:srgbClr val="C00000"/>
                    </a:solidFill>
                  </a:rPr>
                  <a:t>does</a:t>
                </a:r>
                <a:r>
                  <a:rPr lang="en-US" sz="1800" dirty="0"/>
                  <a:t> depend on </a:t>
                </a:r>
                <a:r>
                  <a:rPr lang="en-US" sz="1800" dirty="0">
                    <a:solidFill>
                      <a:srgbClr val="C00000"/>
                    </a:solidFill>
                  </a:rPr>
                  <a:t>what</a:t>
                </a:r>
                <a:r>
                  <a:rPr lang="en-US" sz="1800" dirty="0"/>
                  <a:t> came in </a:t>
                </a:r>
                <a:r>
                  <a:rPr lang="en-US" sz="1800" dirty="0">
                    <a:solidFill>
                      <a:srgbClr val="C00000"/>
                    </a:solidFill>
                  </a:rPr>
                  <a:t>before</a:t>
                </a:r>
                <a:r>
                  <a:rPr lang="en-US" sz="1800" dirty="0"/>
                  <a:t> – A M K D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But </a:t>
                </a:r>
                <a:r>
                  <a:rPr lang="en-US" sz="1600" dirty="0">
                    <a:solidFill>
                      <a:srgbClr val="C00000"/>
                    </a:solidFill>
                  </a:rPr>
                  <a:t>not</a:t>
                </a:r>
                <a:r>
                  <a:rPr lang="en-US" sz="1600" dirty="0"/>
                  <a:t> the </a:t>
                </a:r>
                <a:r>
                  <a:rPr lang="en-US" sz="1600" dirty="0">
                    <a:solidFill>
                      <a:srgbClr val="C00000"/>
                    </a:solidFill>
                  </a:rPr>
                  <a:t>order</a:t>
                </a:r>
                <a:r>
                  <a:rPr lang="en-US" sz="1600" dirty="0"/>
                  <a:t> in which they came.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Those could be in any of 4! = 24 orders and F would add the same.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1800" dirty="0"/>
                  <a:t>So there are 8! X 4! = </a:t>
                </a:r>
                <a:r>
                  <a:rPr lang="en-US" sz="1800" dirty="0">
                    <a:solidFill>
                      <a:srgbClr val="C00000"/>
                    </a:solidFill>
                  </a:rPr>
                  <a:t>967,680</a:t>
                </a:r>
                <a:r>
                  <a:rPr lang="en-US" sz="1800" dirty="0"/>
                  <a:t> orderings that </a:t>
                </a:r>
                <a:r>
                  <a:rPr lang="en-US" sz="1800" dirty="0">
                    <a:solidFill>
                      <a:srgbClr val="C00000"/>
                    </a:solidFill>
                  </a:rPr>
                  <a:t>all produce the same gain for F</a:t>
                </a:r>
                <a:r>
                  <a:rPr lang="en-US" sz="18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186961"/>
                <a:ext cx="8194837" cy="3163583"/>
              </a:xfrm>
              <a:blipFill rotWithShape="1">
                <a:blip r:embed="rId3"/>
                <a:stretch>
                  <a:fillRect l="-1710" t="-2505" r="-1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</a:t>
            </a:fld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835815" y="1485058"/>
            <a:ext cx="1666754" cy="400110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</a:t>
            </a:r>
            <a:r>
              <a:rPr lang="en-US" sz="2000" b="1" dirty="0"/>
              <a:t> A  M  K  D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Multiply 6"/>
          <p:cNvSpPr/>
          <p:nvPr/>
        </p:nvSpPr>
        <p:spPr bwMode="auto">
          <a:xfrm>
            <a:off x="1669192" y="1495127"/>
            <a:ext cx="4572000" cy="400110"/>
          </a:xfrm>
          <a:prstGeom prst="mathMultiply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8257101"/>
      </p:ext>
    </p:extLst>
  </p:cSld>
  <p:clrMapOvr>
    <a:masterClrMapping/>
  </p:clrMapOvr>
  <p:transition spd="med" advTm="718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dirty="0"/>
              <a:t>Recasting as Combinations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186961"/>
                <a:ext cx="8194837" cy="3163583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We can ask “what happens if we add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1800" dirty="0"/>
                  <a:t> to the </a:t>
                </a:r>
                <a:r>
                  <a:rPr lang="en-US" sz="1800" i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combination</a:t>
                </a:r>
                <a:r>
                  <a:rPr lang="en-US" sz="1800" dirty="0"/>
                  <a:t> (in any order) of ADKM?”   … and count the answer 967,680 times.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       { </a:t>
                </a:r>
                <a:r>
                  <a:rPr lang="en-US" sz="1800" b="1" dirty="0"/>
                  <a:t>A  D  K  M }  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1800" dirty="0"/>
                  <a:t>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Averaging over orderings is equivalent to averaging over combinations that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1800" dirty="0"/>
                  <a:t> is added to, </a:t>
                </a:r>
                <a:r>
                  <a:rPr lang="en-US" sz="1800" i="1" dirty="0">
                    <a:solidFill>
                      <a:srgbClr val="0033CC"/>
                    </a:solidFill>
                  </a:rPr>
                  <a:t>with appropriate weights on each</a:t>
                </a:r>
                <a:r>
                  <a:rPr lang="en-US" sz="1800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1800" dirty="0">
                    <a:solidFill>
                      <a:srgbClr val="0033CC"/>
                    </a:solidFill>
                  </a:rPr>
                  <a:t>Weights: </a:t>
                </a:r>
                <a:r>
                  <a:rPr lang="en-US" sz="1800" dirty="0"/>
                  <a:t>With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items total, adding F to a combination of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 of them: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b="1" dirty="0"/>
                  <a:t>! </a:t>
                </a:r>
                <a:r>
                  <a:rPr lang="en-US" sz="1800" dirty="0"/>
                  <a:t>possible orders for the combination (i.e., ahead of F in orderings), and 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dirty="0" smtClean="0">
                            <a:latin typeface="Cambria Math"/>
                          </a:rPr>
                          <m:t>𝒏</m:t>
                        </m:r>
                        <m:r>
                          <a:rPr lang="en-US" sz="1800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sz="1800" b="1" i="1" dirty="0" smtClean="0">
                            <a:latin typeface="Cambria Math"/>
                          </a:rPr>
                          <m:t>𝒌</m:t>
                        </m:r>
                        <m:r>
                          <a:rPr lang="en-US" sz="1800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sz="1800" b="1" i="1" dirty="0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m:rPr>
                        <m:nor/>
                      </m:rPr>
                      <a:rPr lang="en-US" sz="1800" b="1" dirty="0"/>
                      <m:t>!</m:t>
                    </m:r>
                  </m:oMath>
                </a14:m>
                <a:r>
                  <a:rPr lang="en-US" sz="1800" dirty="0"/>
                  <a:t> orders for ones not in the combo (i.e., behind F in order).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/>
                  <a:t>So weight is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33CC"/>
                        </a:solidFill>
                        <a:latin typeface="Cambria Math"/>
                      </a:rPr>
                      <m:t>𝒌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0033CC"/>
                        </a:solidFill>
                      </a:rPr>
                      <m:t>!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 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33CC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>
                        <a:solidFill>
                          <a:srgbClr val="0033CC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-</a:t>
                </a:r>
                <a:r>
                  <a:rPr lang="en-US" sz="1800" b="1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33CC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 dirty="0">
                        <a:solidFill>
                          <a:srgbClr val="0033CC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- </a:t>
                </a:r>
                <a:r>
                  <a:rPr lang="en-US" sz="1800" b="1" dirty="0">
                    <a:solidFill>
                      <a:srgbClr val="0033CC"/>
                    </a:solidFill>
                  </a:rPr>
                  <a:t>1</a:t>
                </a:r>
                <a:r>
                  <a:rPr lang="en-US" sz="1800" dirty="0">
                    <a:solidFill>
                      <a:srgbClr val="0033CC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>
                        <a:solidFill>
                          <a:srgbClr val="0033CC"/>
                        </a:solidFill>
                      </a:rPr>
                      <m:t>!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chemeClr val="tx1"/>
                    </a:solidFill>
                  </a:rPr>
                  <a:t>Sum of weights will be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chemeClr val="tx1"/>
                        </a:solidFill>
                        <a:latin typeface="Cambria Math"/>
                      </a:rPr>
                      <m:t>𝒏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!</m:t>
                    </m:r>
                    <m:r>
                      <m:rPr>
                        <m:nor/>
                      </m:rPr>
                      <a:rPr lang="en-US" sz="1800" b="1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−− </m:t>
                    </m:r>
                    <m:r>
                      <m:rPr>
                        <m:nor/>
                      </m:rPr>
                      <a:rPr lang="en-US" sz="1800" b="0" i="0" dirty="0" smtClean="0">
                        <a:solidFill>
                          <a:schemeClr val="tx1"/>
                        </a:solidFill>
                      </a:rPr>
                      <m:t>so</m:t>
                    </m:r>
                    <m:r>
                      <m:rPr>
                        <m:nor/>
                      </m:rPr>
                      <a:rPr lang="en-US" sz="1800" b="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b="0" i="0" dirty="0" smtClean="0">
                        <a:solidFill>
                          <a:schemeClr val="tx1"/>
                        </a:solidFill>
                      </a:rPr>
                      <m:t>we</m:t>
                    </m:r>
                    <m:r>
                      <m:rPr>
                        <m:nor/>
                      </m:rPr>
                      <a:rPr lang="en-US" sz="1800" b="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divide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by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that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at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some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point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.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180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sz="180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sz="1800" dirty="0">
                  <a:solidFill>
                    <a:schemeClr val="accent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186961"/>
                <a:ext cx="8194837" cy="3163583"/>
              </a:xfrm>
              <a:blipFill rotWithShape="1">
                <a:blip r:embed="rId2"/>
                <a:stretch>
                  <a:fillRect l="-1710" t="-2505" r="-149" b="-9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75897454"/>
      </p:ext>
    </p:extLst>
  </p:cSld>
  <p:clrMapOvr>
    <a:masterClrMapping/>
  </p:clrMapOvr>
  <p:transition spd="med" advTm="1657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Shapley Values As Averages Over Combinations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00147" y="1092368"/>
                <a:ext cx="7742237" cy="3163583"/>
              </a:xfrm>
            </p:spPr>
            <p:txBody>
              <a:bodyPr/>
              <a:lstStyle/>
              <a:p>
                <a:pPr marL="4476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𝝋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𝒗</m:t>
                          </m:r>
                        </m:e>
                      </m:d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 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𝑺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 ⊆(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𝑺</m:t>
                                  </m:r>
                                </m:e>
                              </m:d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! 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𝑵</m:t>
                                      </m:r>
                                    </m:e>
                                  </m:d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𝑺</m:t>
                                      </m:r>
                                    </m:e>
                                  </m:d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𝑵</m:t>
                                  </m:r>
                                </m:e>
                              </m:d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!</m:t>
                              </m:r>
                            </m:den>
                          </m:f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𝑺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 ∪{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}</m:t>
                                  </m:r>
                                </m:e>
                              </m:d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 −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𝑺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1" i="1" dirty="0">
                            <a:latin typeface="Cambria Math"/>
                            <a:ea typeface="Cambria Math"/>
                          </a:rPr>
                          <m:t>𝝋</m:t>
                        </m:r>
                      </m:e>
                      <m:sub>
                        <m:r>
                          <a:rPr lang="en-US" sz="1600" b="1" i="1" dirty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</m:d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is the Shapley Value for item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, using value function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𝒗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sz="1200" dirty="0"/>
              </a:p>
              <a:p>
                <a:pPr marL="0" indent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/>
                  <a:t>(in KDRs, </a:t>
                </a: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𝒗</m:t>
                    </m:r>
                  </m:oMath>
                </a14:m>
                <a:r>
                  <a:rPr lang="en-US" sz="900" dirty="0"/>
                  <a:t> </a:t>
                </a:r>
                <a:r>
                  <a:rPr lang="en-US" sz="1200" dirty="0"/>
                  <a:t>is the regression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12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/>
                  <a:t>, but it could be other functions)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N is the set of items, |N| is its size</a:t>
                </a:r>
              </a:p>
              <a:p>
                <a:pPr marL="0" indent="0">
                  <a:buNone/>
                </a:pPr>
                <a:r>
                  <a:rPr lang="en-US" sz="1600" dirty="0"/>
                  <a:t>The sum is over all subsets (combinations)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𝑺</m:t>
                    </m:r>
                  </m:oMath>
                </a14:m>
                <a:r>
                  <a:rPr lang="en-US" sz="1600" dirty="0"/>
                  <a:t> of items in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𝑵</m:t>
                    </m:r>
                  </m:oMath>
                </a14:m>
                <a:r>
                  <a:rPr lang="en-US" sz="1600" dirty="0"/>
                  <a:t> except for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𝑺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⊆</m:t>
                    </m:r>
                    <m:d>
                      <m:dPr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𝑵</m:t>
                        </m:r>
                        <m:r>
                          <a:rPr lang="en-US" sz="16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6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e>
                    </m:d>
                  </m:oMath>
                </a14:m>
                <a:endParaRPr lang="en-US" sz="1600" b="1" i="1" dirty="0">
                  <a:solidFill>
                    <a:srgbClr val="C00000"/>
                  </a:solidFill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𝑺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∪{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en-US" sz="1600" dirty="0"/>
                  <a:t> is the combination with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added to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𝑺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1800" dirty="0"/>
                  <a:t>So, “</a:t>
                </a:r>
                <a:r>
                  <a:rPr lang="en-US" sz="1800" dirty="0">
                    <a:solidFill>
                      <a:srgbClr val="0033CC"/>
                    </a:solidFill>
                  </a:rPr>
                  <a:t>Take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1800" b="0" i="1" dirty="0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for every combination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𝑺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that doesn’t include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, subtract it from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solidFill>
                              <a:srgbClr val="0033CC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1800" i="1" dirty="0">
                            <a:solidFill>
                              <a:srgbClr val="0033CC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once item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is added, and find the </a:t>
                </a:r>
                <a:r>
                  <a:rPr lang="en-US" sz="1800" b="1" i="1" dirty="0">
                    <a:solidFill>
                      <a:srgbClr val="0033CC"/>
                    </a:solidFill>
                  </a:rPr>
                  <a:t>weighted</a:t>
                </a:r>
                <a:r>
                  <a:rPr lang="en-US" sz="1800" i="1" dirty="0">
                    <a:solidFill>
                      <a:srgbClr val="0033CC"/>
                    </a:solidFill>
                  </a:rPr>
                  <a:t> </a:t>
                </a:r>
                <a:r>
                  <a:rPr lang="en-US" sz="1800" dirty="0">
                    <a:solidFill>
                      <a:srgbClr val="0033CC"/>
                    </a:solidFill>
                  </a:rPr>
                  <a:t>average of those differences, over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rgbClr val="0033CC"/>
                                </a:solidFill>
                                <a:latin typeface="Cambria Math"/>
                              </a:rPr>
                              <m:t>𝑁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possible combinations without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.</a:t>
                </a:r>
                <a:r>
                  <a:rPr lang="en-US" sz="1800" dirty="0"/>
                  <a:t>”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147" y="1092368"/>
                <a:ext cx="7742237" cy="3163583"/>
              </a:xfrm>
              <a:blipFill rotWithShape="1">
                <a:blip r:embed="rId3"/>
                <a:stretch>
                  <a:fillRect l="-1890" r="-1181" b="-9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632294" y="1331922"/>
                <a:ext cx="2280212" cy="344133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            </m:t>
                        </m:r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 for items in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𝑺</m:t>
                    </m:r>
                  </m:oMath>
                </a14:m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294" y="1331922"/>
                <a:ext cx="2280212" cy="344133"/>
              </a:xfrm>
              <a:prstGeom prst="rect">
                <a:avLst/>
              </a:prstGeom>
              <a:blipFill rotWithShape="1">
                <a:blip r:embed="rId4"/>
                <a:stretch>
                  <a:fillRect t="-1667" b="-16667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03133" y="1092368"/>
                <a:ext cx="2984340" cy="590354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Increase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 is added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133" y="1092368"/>
                <a:ext cx="2984340" cy="590354"/>
              </a:xfrm>
              <a:prstGeom prst="rect">
                <a:avLst/>
              </a:prstGeom>
              <a:blipFill rotWithShape="1">
                <a:blip r:embed="rId5"/>
                <a:stretch>
                  <a:fillRect t="-1000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8700" y="761975"/>
                <a:ext cx="1983168" cy="1082797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SV for item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, using value function 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 (e.g.,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0" y="761975"/>
                <a:ext cx="1983168" cy="1082797"/>
              </a:xfrm>
              <a:prstGeom prst="rect">
                <a:avLst/>
              </a:prstGeom>
              <a:blipFill rotWithShape="1">
                <a:blip r:embed="rId6"/>
                <a:stretch>
                  <a:fillRect l="-3659" t="-1105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148313" y="737470"/>
            <a:ext cx="2085368" cy="10618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Wt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: # of orderings in which this combo occurs</a:t>
            </a:r>
          </a:p>
          <a:p>
            <a:pPr algn="ctr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2268636" y="1618180"/>
            <a:ext cx="1018572" cy="303216"/>
          </a:xfrm>
          <a:prstGeom prst="ellips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6968359"/>
      </p:ext>
    </p:extLst>
  </p:cSld>
  <p:clrMapOvr>
    <a:masterClrMapping/>
  </p:clrMapOvr>
  <p:transition spd="med" advTm="149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7" grpId="0" animBg="1"/>
      <p:bldP spid="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sz="2800" dirty="0"/>
              <a:t>Ways To Go Wrong …. Weighting Matters!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687186"/>
            <a:ext cx="7742237" cy="316358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10</a:t>
            </a:fld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85403" y="789998"/>
            <a:ext cx="7682552" cy="1569660"/>
          </a:xfrm>
          <a:prstGeom prst="rect">
            <a:avLst/>
          </a:prstGeom>
          <a:noFill/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/>
              <a:t>                                                                        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By size of combination, 0 to 19 (before adding)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 of combinations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>
                <a:solidFill>
                  <a:srgbClr val="C00000"/>
                </a:solidFill>
              </a:rPr>
              <a:t>(unweighted puts most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>
                <a:solidFill>
                  <a:srgbClr val="C00000"/>
                </a:solidFill>
              </a:rPr>
              <a:t> weight in the middle)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261" y="1126362"/>
            <a:ext cx="5487201" cy="137256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153" y="2362764"/>
            <a:ext cx="5487201" cy="1372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1344" y="1297933"/>
            <a:ext cx="2062655" cy="52322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Combos size 6 to 13 account for most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1515" y="2593833"/>
            <a:ext cx="2062655" cy="101566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Just adding the 20 weights suggests 90%+ at the two ends …. ???  </a:t>
            </a:r>
            <a:r>
              <a:rPr lang="en-US" sz="1600" b="1" dirty="0">
                <a:solidFill>
                  <a:srgbClr val="FF0000"/>
                </a:solidFill>
              </a:rPr>
              <a:t> Wrong!</a:t>
            </a:r>
            <a:endParaRPr lang="en-US" sz="1400" b="1" dirty="0">
              <a:solidFill>
                <a:srgbClr val="FF000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911" y="3607717"/>
            <a:ext cx="5487201" cy="1372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0930" y="2689024"/>
            <a:ext cx="2845331" cy="800219"/>
          </a:xfrm>
          <a:prstGeom prst="rect">
            <a:avLst/>
          </a:prstGeom>
          <a:noFill/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Weights per combination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>
                <a:solidFill>
                  <a:srgbClr val="C00000"/>
                </a:solidFill>
              </a:rPr>
              <a:t>(can’t ignore how many each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>
                <a:solidFill>
                  <a:srgbClr val="C00000"/>
                </a:solidFill>
              </a:rPr>
              <a:t> weight applies to)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403" y="3840723"/>
            <a:ext cx="2746906" cy="861774"/>
          </a:xfrm>
          <a:prstGeom prst="rect">
            <a:avLst/>
          </a:prstGeom>
          <a:noFill/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Net # combos X weights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(each combo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size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counts equally)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9051811"/>
      </p:ext>
    </p:extLst>
  </p:cSld>
  <p:clrMapOvr>
    <a:masterClrMapping/>
  </p:clrMapOvr>
  <p:transition spd="med" advTm="614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07477" y="741662"/>
            <a:ext cx="5528440" cy="181588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(Unweighted) Average over sizes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600" b="1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600" b="1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01617" y="1049464"/>
                <a:ext cx="4288220" cy="1323439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(Unweighted) Average over all of size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endParaRPr lang="en-US" sz="1600" b="1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617" y="1049464"/>
                <a:ext cx="4288220" cy="1323439"/>
              </a:xfrm>
              <a:prstGeom prst="rect">
                <a:avLst/>
              </a:prstGeom>
              <a:blipFill rotWithShape="1">
                <a:blip r:embed="rId3"/>
                <a:stretch>
                  <a:fillRect t="-909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Shapley Values Averaged Over Combo </a:t>
            </a:r>
            <a:r>
              <a:rPr lang="en-US" dirty="0">
                <a:solidFill>
                  <a:srgbClr val="C00000"/>
                </a:solidFill>
              </a:rPr>
              <a:t>Sizes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00147" y="1323868"/>
                <a:ext cx="7742237" cy="3163583"/>
              </a:xfrm>
            </p:spPr>
            <p:txBody>
              <a:bodyPr/>
              <a:lstStyle/>
              <a:p>
                <a:pPr marL="4476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𝝋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𝒗</m:t>
                          </m:r>
                        </m:e>
                      </m:d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 =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𝑁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𝟎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|</m:t>
                                            </m:r>
                                            <m:r>
                                              <a:rPr lang="en-US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𝑵</m:t>
                                            </m:r>
                                            <m:r>
                                              <a:rPr lang="en-US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𝟏</m:t>
                                            </m:r>
                                            <m:r>
                                              <a:rPr lang="en-US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|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𝒌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</m:den>
                              </m:f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𝑺</m:t>
                                  </m:r>
                                  <m: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 ⊆</m:t>
                                  </m:r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𝑵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𝒊</m:t>
                                      </m:r>
                                    </m:e>
                                  </m:d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𝑺</m:t>
                                      </m:r>
                                    </m:e>
                                  </m:d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=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𝒗</m:t>
                                      </m:r>
                                      <m:d>
                                        <m:dPr>
                                          <m:ctrlP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𝑺</m:t>
                                          </m:r>
                                          <m: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 ∪{</m:t>
                                          </m:r>
                                          <m: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  <m: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}</m:t>
                                          </m:r>
                                        </m:e>
                                      </m:d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 −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𝒗</m:t>
                                      </m:r>
                                      <m:d>
                                        <m:dPr>
                                          <m:ctrlP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𝑺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1800" dirty="0"/>
                  <a:t>Inner sum is over combinations as before, but all of one size</a:t>
                </a:r>
              </a:p>
              <a:p>
                <a:pPr marL="0" indent="0">
                  <a:buNone/>
                </a:pPr>
                <a:r>
                  <a:rPr lang="en-US" sz="1800" dirty="0"/>
                  <a:t>All are same size, so all same weight.  Numerator out front just gives mean.</a:t>
                </a:r>
              </a:p>
              <a:p>
                <a:pPr marL="0" indent="0">
                  <a:buNone/>
                </a:pPr>
                <a:r>
                  <a:rPr lang="en-US" sz="1800" dirty="0"/>
                  <a:t>Outer sum is over all sizes, 0 to 1 less than number of items.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1800" dirty="0"/>
                  <a:t>So, “</a:t>
                </a:r>
                <a:r>
                  <a:rPr lang="en-US" sz="1800" dirty="0">
                    <a:solidFill>
                      <a:srgbClr val="0033CC"/>
                    </a:solidFill>
                  </a:rPr>
                  <a:t>Find the average contribution item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adds to each </a:t>
                </a:r>
                <a:r>
                  <a:rPr lang="en-US" sz="1800" b="1" dirty="0">
                    <a:solidFill>
                      <a:srgbClr val="0033CC"/>
                    </a:solidFill>
                  </a:rPr>
                  <a:t>size</a:t>
                </a:r>
                <a:r>
                  <a:rPr lang="en-US" sz="1800" dirty="0">
                    <a:solidFill>
                      <a:srgbClr val="0033CC"/>
                    </a:solidFill>
                  </a:rPr>
                  <a:t> of combination, and average those averages over the combination sizes.</a:t>
                </a:r>
                <a:r>
                  <a:rPr lang="en-US" sz="1800" dirty="0"/>
                  <a:t>”  No weights involved!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147" y="1323868"/>
                <a:ext cx="7742237" cy="3163583"/>
              </a:xfrm>
              <a:blipFill rotWithShape="1">
                <a:blip r:embed="rId4"/>
                <a:stretch>
                  <a:fillRect l="-1890" r="-551" b="-8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11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34152" y="1330276"/>
                <a:ext cx="2123090" cy="738664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Contribution of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/>
              </a:p>
              <a:p>
                <a:pPr>
                  <a:spcBef>
                    <a:spcPts val="120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152" y="1330276"/>
                <a:ext cx="2123090" cy="738664"/>
              </a:xfrm>
              <a:prstGeom prst="rect">
                <a:avLst/>
              </a:prstGeom>
              <a:blipFill rotWithShape="1">
                <a:blip r:embed="rId5"/>
                <a:stretch>
                  <a:fillRect t="-1613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 bwMode="auto">
          <a:xfrm>
            <a:off x="4829041" y="1990844"/>
            <a:ext cx="680508" cy="303216"/>
          </a:xfrm>
          <a:prstGeom prst="ellips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6892925"/>
      </p:ext>
    </p:extLst>
  </p:cSld>
  <p:clrMapOvr>
    <a:masterClrMapping/>
  </p:clrMapOvr>
  <p:transition spd="med" advTm="2636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6" grpId="1" animBg="1"/>
      <p:bldP spid="5" grpId="0" animBg="1"/>
      <p:bldP spid="5" grpId="1" animBg="1"/>
      <p:bldP spid="8" grpId="0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1059365"/>
            <a:ext cx="7742237" cy="316358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Shapley Values are gains as we step through all items</a:t>
            </a:r>
          </a:p>
          <a:p>
            <a:r>
              <a:rPr lang="en-US" sz="1800" dirty="0"/>
              <a:t>Averaged over all possible orderings</a:t>
            </a:r>
          </a:p>
          <a:p>
            <a:r>
              <a:rPr lang="en-US" sz="1800" dirty="0"/>
              <a:t>Useful when thinking about all items, as in KDRs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dirty="0"/>
              <a:t>SVs are gains when an item is added to a combination it’s not in</a:t>
            </a:r>
          </a:p>
          <a:p>
            <a:r>
              <a:rPr lang="en-US" sz="1800" dirty="0"/>
              <a:t>Averaged over all possible combinations, with appropriate weights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0033CC"/>
                </a:solidFill>
              </a:rPr>
              <a:t>SVs are gains when an item is added to a combination it’s not in</a:t>
            </a:r>
          </a:p>
          <a:p>
            <a:r>
              <a:rPr lang="en-US" sz="1800" dirty="0">
                <a:solidFill>
                  <a:srgbClr val="0033CC"/>
                </a:solidFill>
              </a:rPr>
              <a:t>With all sizes of initial combinations counting equally</a:t>
            </a:r>
          </a:p>
          <a:p>
            <a:r>
              <a:rPr lang="en-US" sz="1800" dirty="0"/>
              <a:t>Useful when thinking about combinations, as in TURFs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19825742"/>
      </p:ext>
    </p:extLst>
  </p:cSld>
  <p:clrMapOvr>
    <a:masterClrMapping/>
  </p:clrMapOvr>
  <p:transition spd="med" advTm="42072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sz="2800" dirty="0">
                <a:solidFill>
                  <a:srgbClr val="C00000"/>
                </a:solidFill>
              </a:rPr>
              <a:t>TURF</a:t>
            </a:r>
            <a:r>
              <a:rPr lang="en-US" dirty="0"/>
              <a:t> – </a:t>
            </a:r>
            <a:r>
              <a:rPr lang="en-US" dirty="0">
                <a:solidFill>
                  <a:srgbClr val="C00000"/>
                </a:solidFill>
              </a:rPr>
              <a:t>T</a:t>
            </a:r>
            <a:r>
              <a:rPr lang="en-US" dirty="0"/>
              <a:t>otal </a:t>
            </a:r>
            <a:r>
              <a:rPr lang="en-US" dirty="0">
                <a:solidFill>
                  <a:srgbClr val="C00000"/>
                </a:solidFill>
              </a:rPr>
              <a:t>U</a:t>
            </a:r>
            <a:r>
              <a:rPr lang="en-US" dirty="0"/>
              <a:t>nduplicated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each &amp;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/>
              <a:t>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186961"/>
                <a:ext cx="8194837" cy="3163583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“Unduplicated reach” – percentage of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respondents “reached” by </a:t>
                </a:r>
                <a:r>
                  <a:rPr lang="en-US" sz="1800" i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at least one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i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item </a:t>
                </a:r>
                <a:r>
                  <a:rPr lang="en-US" sz="1800" dirty="0"/>
                  <a:t>in a combination </a:t>
                </a:r>
                <a:r>
                  <a:rPr lang="en-US" sz="1400" dirty="0"/>
                  <a:t>(frequency is ignored!)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Respondent data is 0-1 for each item: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1=would buy, believe or want, 0=not so.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1800" dirty="0"/>
                  <a:t>Question is “</a:t>
                </a:r>
                <a:r>
                  <a:rPr lang="en-US" sz="1800" dirty="0">
                    <a:solidFill>
                      <a:srgbClr val="0033CC"/>
                    </a:solidFill>
                  </a:rPr>
                  <a:t>What’s the best [i.e., greatest reach] combination of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33CC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>
                    <a:solidFill>
                      <a:srgbClr val="0033CC"/>
                    </a:solidFill>
                  </a:rPr>
                  <a:t> items?</a:t>
                </a:r>
                <a:r>
                  <a:rPr lang="en-US" sz="1800" dirty="0"/>
                  <a:t>” for various values of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1800" dirty="0"/>
                  <a:t>Important variant:  “</a:t>
                </a:r>
                <a:r>
                  <a:rPr lang="en-US" sz="1800" dirty="0">
                    <a:solidFill>
                      <a:srgbClr val="0033CC"/>
                    </a:solidFill>
                  </a:rPr>
                  <a:t>depths</a:t>
                </a:r>
                <a:r>
                  <a:rPr lang="en-US" sz="1800" dirty="0"/>
                  <a:t>” – reached by </a:t>
                </a:r>
                <a:r>
                  <a:rPr lang="en-US" sz="1800" i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at least &lt;depth&gt; items </a:t>
                </a:r>
                <a:r>
                  <a:rPr lang="en-US" sz="1800" dirty="0"/>
                  <a:t>in a combo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186961"/>
                <a:ext cx="8194837" cy="3163583"/>
              </a:xfrm>
              <a:blipFill rotWithShape="1">
                <a:blip r:embed="rId2"/>
                <a:stretch>
                  <a:fillRect l="-1710" t="-2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13</a:t>
            </a:fld>
            <a:endParaRPr lang="en-US" sz="1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539514"/>
              </p:ext>
            </p:extLst>
          </p:nvPr>
        </p:nvGraphicFramePr>
        <p:xfrm>
          <a:off x="5150735" y="903937"/>
          <a:ext cx="3842794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329">
                <a:tc>
                  <a:txBody>
                    <a:bodyPr/>
                    <a:lstStyle/>
                    <a:p>
                      <a:r>
                        <a:rPr lang="en-US" sz="16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“Reach” (or “Hit”)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29">
                <a:tc>
                  <a:txBody>
                    <a:bodyPr/>
                    <a:lstStyle/>
                    <a:p>
                      <a:r>
                        <a:rPr lang="en-US" sz="1600" dirty="0"/>
                        <a:t>Flavor</a:t>
                      </a:r>
                      <a:r>
                        <a:rPr lang="en-US" sz="1600" baseline="0" dirty="0"/>
                        <a:t> or variety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Would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329">
                <a:tc>
                  <a:txBody>
                    <a:bodyPr/>
                    <a:lstStyle/>
                    <a:p>
                      <a:r>
                        <a:rPr lang="en-US" sz="1600" dirty="0"/>
                        <a:t>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Important/believe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329">
                <a:tc>
                  <a:txBody>
                    <a:bodyPr/>
                    <a:lstStyle/>
                    <a:p>
                      <a:r>
                        <a:rPr lang="en-US" sz="16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Want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329">
                <a:tc>
                  <a:txBody>
                    <a:bodyPr/>
                    <a:lstStyle/>
                    <a:p>
                      <a:r>
                        <a:rPr lang="en-US" sz="1600" dirty="0"/>
                        <a:t>Many variations</a:t>
                      </a:r>
                      <a:r>
                        <a:rPr lang="en-US" sz="1600" baseline="0" dirty="0"/>
                        <a:t> 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479" y="4105064"/>
            <a:ext cx="4151446" cy="10384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34" y="4105064"/>
            <a:ext cx="4151221" cy="10383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9742" y="4027779"/>
            <a:ext cx="3865955" cy="46166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200" b="1" dirty="0">
                <a:solidFill>
                  <a:srgbClr val="0033CC"/>
                </a:solidFill>
              </a:rPr>
              <a:t>Depth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200" b="1" dirty="0">
                <a:solidFill>
                  <a:srgbClr val="0033CC"/>
                </a:solidFill>
              </a:rPr>
              <a:t>Good item pair extends </a:t>
            </a:r>
            <a:r>
              <a:rPr lang="en-US" sz="1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breadth</a:t>
            </a:r>
            <a:r>
              <a:rPr lang="en-US" sz="1200" b="1" dirty="0">
                <a:solidFill>
                  <a:srgbClr val="0033CC"/>
                </a:solidFill>
              </a:rPr>
              <a:t>; depth&gt;1 is wasted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056" y="4027778"/>
            <a:ext cx="3798698" cy="46166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200" b="1" dirty="0">
                <a:solidFill>
                  <a:srgbClr val="0033CC"/>
                </a:solidFill>
              </a:rPr>
              <a:t>Depth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200" b="1" dirty="0">
                <a:solidFill>
                  <a:srgbClr val="0033CC"/>
                </a:solidFill>
              </a:rPr>
              <a:t>Good item pair increases </a:t>
            </a:r>
            <a:r>
              <a:rPr lang="en-US" sz="1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depth</a:t>
            </a:r>
            <a:r>
              <a:rPr lang="en-US" sz="1200" b="1" dirty="0">
                <a:solidFill>
                  <a:srgbClr val="0033CC"/>
                </a:solidFill>
              </a:rPr>
              <a:t>; depth&lt;2 is wasted</a:t>
            </a:r>
          </a:p>
        </p:txBody>
      </p:sp>
    </p:spTree>
    <p:extLst>
      <p:ext uri="{BB962C8B-B14F-4D97-AF65-F5344CB8AC3E}">
        <p14:creationId xmlns:p14="http://schemas.microsoft.com/office/powerpoint/2010/main" val="3407602160"/>
      </p:ext>
    </p:extLst>
  </p:cSld>
  <p:clrMapOvr>
    <a:masterClrMapping/>
  </p:clrMapOvr>
  <p:transition spd="med" advTm="7532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dirty="0"/>
              <a:t>TURF Can Be Challenging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975299"/>
                <a:ext cx="7742237" cy="3163583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1800" dirty="0"/>
                  <a:t>The best combination of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𝒌</m:t>
                    </m:r>
                    <m:r>
                      <a:rPr lang="en-US" sz="18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is </a:t>
                </a:r>
                <a:r>
                  <a:rPr lang="en-US" sz="1800" i="1" dirty="0">
                    <a:solidFill>
                      <a:srgbClr val="C00000"/>
                    </a:solidFill>
                  </a:rPr>
                  <a:t>not</a:t>
                </a:r>
                <a:r>
                  <a:rPr lang="en-US" sz="1800" dirty="0"/>
                  <a:t> just the best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𝒌</m:t>
                    </m:r>
                    <m:r>
                      <a:rPr lang="en-US" sz="18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individual items.</a:t>
                </a:r>
              </a:p>
              <a:p>
                <a:pPr>
                  <a:lnSpc>
                    <a:spcPct val="100000"/>
                  </a:lnSpc>
                  <a:spcBef>
                    <a:spcPts val="216"/>
                  </a:spcBef>
                </a:pPr>
                <a:r>
                  <a:rPr lang="en-US" sz="1800" dirty="0"/>
                  <a:t>If two items </a:t>
                </a:r>
                <a:r>
                  <a:rPr lang="en-US" sz="1800" dirty="0">
                    <a:solidFill>
                      <a:srgbClr val="0033CC"/>
                    </a:solidFill>
                  </a:rPr>
                  <a:t>overlap</a:t>
                </a:r>
                <a:r>
                  <a:rPr lang="en-US" sz="1800" dirty="0"/>
                  <a:t> considerably in their appeal, either adds little </a:t>
                </a:r>
                <a:r>
                  <a:rPr lang="en-US" sz="1800" dirty="0">
                    <a:solidFill>
                      <a:srgbClr val="0033CC"/>
                    </a:solidFill>
                  </a:rPr>
                  <a:t>additional</a:t>
                </a:r>
                <a:r>
                  <a:rPr lang="en-US" sz="1800" dirty="0"/>
                  <a:t> reach to what the other already gives; probably only one of the two is in the best combination.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1800" dirty="0"/>
                  <a:t>With some overlap patterns, the best combination of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 items is </a:t>
                </a:r>
                <a:r>
                  <a:rPr lang="en-US" sz="1800" i="1" dirty="0">
                    <a:solidFill>
                      <a:srgbClr val="C00000"/>
                    </a:solidFill>
                  </a:rPr>
                  <a:t>not </a:t>
                </a:r>
                <a:r>
                  <a:rPr lang="en-US" sz="1800" dirty="0"/>
                  <a:t>the best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𝒌</m:t>
                    </m:r>
                    <m:r>
                      <a:rPr lang="en-US" sz="1800" b="1" i="1" dirty="0" smtClean="0">
                        <a:latin typeface="Cambria Math"/>
                      </a:rPr>
                      <m:t>−</m:t>
                    </m:r>
                    <m:r>
                      <a:rPr lang="en-US" sz="1800" b="1" i="1" dirty="0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dirty="0"/>
                  <a:t> plus another.  </a:t>
                </a:r>
              </a:p>
              <a:p>
                <a:pPr>
                  <a:lnSpc>
                    <a:spcPct val="100000"/>
                  </a:lnSpc>
                  <a:spcBef>
                    <a:spcPts val="216"/>
                  </a:spcBef>
                </a:pPr>
                <a:r>
                  <a:rPr lang="en-US" sz="1800" dirty="0"/>
                  <a:t>Assuming otherwise leads to “stepwise TURF.”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1800" dirty="0"/>
                  <a:t>Only guaranteed and simple solution strategy is to evaluate all possible combinations of a given size, to find the best.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Limits number of items we can handle (25-30 max, say), or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Requires shortcut </a:t>
                </a:r>
                <a:r>
                  <a:rPr lang="en-US" sz="1800" dirty="0">
                    <a:solidFill>
                      <a:srgbClr val="0033CC"/>
                    </a:solidFill>
                  </a:rPr>
                  <a:t>approximations</a:t>
                </a:r>
                <a:r>
                  <a:rPr lang="en-US" sz="1800" dirty="0"/>
                  <a:t> (e.g., stepwise) to finding the best.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975299"/>
                <a:ext cx="7742237" cy="3163583"/>
              </a:xfrm>
              <a:blipFill rotWithShape="1">
                <a:blip r:embed="rId2"/>
                <a:stretch>
                  <a:fillRect l="-1811" t="-2505" r="-2126" b="-16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50725536"/>
      </p:ext>
    </p:extLst>
  </p:cSld>
  <p:clrMapOvr>
    <a:masterClrMapping/>
  </p:clrMapOvr>
  <p:transition spd="med" advTm="27405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TURF Results 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15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4276689"/>
                  </p:ext>
                </p:extLst>
              </p:nvPr>
            </p:nvGraphicFramePr>
            <p:xfrm>
              <a:off x="2720429" y="1030014"/>
              <a:ext cx="6213365" cy="374655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4221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4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09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2041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55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8347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5194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3602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9368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30925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578069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735724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</a:tblGrid>
                  <a:tr h="249770"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Pairs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=2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Triples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=3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Quads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=4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Quints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=5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77.1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81.7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GDM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83.4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GBMH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GBCMH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75.3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81.6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GDCMH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74.4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74.3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73.6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BD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80.4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GBDCM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72.5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79.9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GBDMH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70.8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79.9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GDCH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GBCMK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70.7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GDCE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GBMKH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9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69.4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9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GDMJ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GBMLH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69.1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79.5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GDE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GBDCL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GBDKH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GBDH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4276689"/>
                  </p:ext>
                </p:extLst>
              </p:nvPr>
            </p:nvGraphicFramePr>
            <p:xfrm>
              <a:off x="2720429" y="1030014"/>
              <a:ext cx="6213365" cy="374655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422165"/>
                    <a:gridCol w="504496"/>
                    <a:gridCol w="430924"/>
                    <a:gridCol w="420414"/>
                    <a:gridCol w="525517"/>
                    <a:gridCol w="483476"/>
                    <a:gridCol w="451945"/>
                    <a:gridCol w="536028"/>
                    <a:gridCol w="693682"/>
                    <a:gridCol w="430925"/>
                    <a:gridCol w="578069"/>
                    <a:gridCol w="735724"/>
                  </a:tblGrid>
                  <a:tr h="24977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1">
                          <a:blip r:embed="rId2"/>
                          <a:stretch>
                            <a:fillRect t="-9756" r="-357399" b="-14390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1">
                          <a:blip r:embed="rId2"/>
                          <a:stretch>
                            <a:fillRect l="-94894" t="-9756" r="-239149" b="-14390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1">
                          <a:blip r:embed="rId2"/>
                          <a:stretch>
                            <a:fillRect l="-165942" t="-9756" r="-103623" b="-14390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1">
                          <a:blip r:embed="rId2"/>
                          <a:stretch>
                            <a:fillRect l="-256643" t="-9756" b="-14390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77.1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81.7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GDM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83.4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GBMH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GBCMH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75.3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81.6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 smtClean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GDCMH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74.4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74.3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73.6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BD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80.4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GBDCM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72.5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79.9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GBDMH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70.8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79.9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GDCH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GBCMK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70.7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GDCE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GBMKH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9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69.4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9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GDMJ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GBMLH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69.1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79.5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GDE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GBDCL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GBDKH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GBDH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430924" y="893384"/>
            <a:ext cx="2289505" cy="3323987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Top row is the literal answer to “What’s the best?”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The rest is mind-numbingly dull!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rgbClr val="0033CC"/>
                </a:solidFill>
              </a:rPr>
              <a:t>Are there “insights” here? 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And this is for a single depth!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1575676" y="1681655"/>
            <a:ext cx="1144753" cy="1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430924" y="4183129"/>
            <a:ext cx="5002924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Imagine 20+ items, up to k=10+, several depths!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1427295"/>
      </p:ext>
    </p:extLst>
  </p:cSld>
  <p:clrMapOvr>
    <a:masterClrMapping/>
  </p:clrMapOvr>
  <p:transition spd="med" advTm="38287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dirty="0"/>
              <a:t>Applying Shapley Values to TURF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186961"/>
                <a:ext cx="7742237" cy="3163583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1800" dirty="0"/>
                  <a:t>Same formulas we’ve been looking at, but the “value function”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is not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sz="18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 but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800" dirty="0"/>
                  <a:t>   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𝒗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𝑺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1800" dirty="0"/>
                  <a:t> % of respondents for whom </a:t>
                </a:r>
                <a:r>
                  <a:rPr lang="en-US" sz="1800" u="sng" dirty="0"/>
                  <a:t>at least one</a:t>
                </a:r>
                <a:r>
                  <a:rPr lang="en-US" sz="1800" dirty="0"/>
                  <a:t> item in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  <a:ea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 is “a hit”</a:t>
                </a:r>
                <a:endParaRPr lang="en-US" sz="1800" b="1" dirty="0"/>
              </a:p>
              <a:p>
                <a:pPr marL="0" indent="0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:r>
                  <a:rPr lang="en-US" sz="1800" dirty="0"/>
                  <a:t>Or, we can define it at the respondent level: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     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/>
                          </a:rPr>
                          <m:t>𝑺</m:t>
                        </m:r>
                      </m:e>
                    </m:d>
                    <m:r>
                      <a:rPr lang="en-US" sz="1800" b="1" i="1" smtClean="0">
                        <a:latin typeface="Cambria Math"/>
                      </a:rPr>
                      <m:t>=</m:t>
                    </m:r>
                    <m:r>
                      <a:rPr lang="en-US" sz="1800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b="1" dirty="0">
                    <a:ea typeface="Cambria Math"/>
                  </a:rPr>
                  <a:t> </a:t>
                </a:r>
                <a:r>
                  <a:rPr lang="en-US" sz="1800" dirty="0"/>
                  <a:t>if respondent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𝑹</m:t>
                    </m:r>
                  </m:oMath>
                </a14:m>
                <a:r>
                  <a:rPr lang="en-US" sz="1800" dirty="0"/>
                  <a:t>’s data = 1 for </a:t>
                </a:r>
                <a:r>
                  <a:rPr lang="en-US" sz="1800" u="sng" dirty="0"/>
                  <a:t>at least one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𝒊</m:t>
                    </m:r>
                    <m:r>
                      <a:rPr lang="en-US" sz="1800" b="1" i="1">
                        <a:latin typeface="Cambria Math"/>
                      </a:rPr>
                      <m:t> ∈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𝑺</m:t>
                    </m:r>
                  </m:oMath>
                </a14:m>
                <a:r>
                  <a:rPr lang="en-US" sz="1800" b="1" dirty="0">
                    <a:ea typeface="Cambria Math"/>
                  </a:rPr>
                  <a:t>  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                  =</m:t>
                    </m:r>
                    <m:r>
                      <a:rPr lang="en-US" sz="18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dirty="0"/>
                  <a:t> otherwise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800" dirty="0"/>
                  <a:t>    and then just average up over respondents (weighted, if desired)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800" dirty="0"/>
                  <a:t>Or, “</a:t>
                </a:r>
                <a:r>
                  <a:rPr lang="en-US" sz="1800" dirty="0">
                    <a:solidFill>
                      <a:srgbClr val="0033CC"/>
                    </a:solidFill>
                  </a:rPr>
                  <a:t>at least &lt;depth&gt; items</a:t>
                </a:r>
                <a:r>
                  <a:rPr lang="en-US" sz="1800" dirty="0"/>
                  <a:t>” instead of “</a:t>
                </a:r>
                <a:r>
                  <a:rPr lang="en-US" sz="1800" dirty="0">
                    <a:solidFill>
                      <a:srgbClr val="0033CC"/>
                    </a:solidFill>
                  </a:rPr>
                  <a:t>at least one</a:t>
                </a:r>
                <a:r>
                  <a:rPr lang="en-US" sz="1800" dirty="0"/>
                  <a:t>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186961"/>
                <a:ext cx="7742237" cy="3163583"/>
              </a:xfrm>
              <a:blipFill rotWithShape="1">
                <a:blip r:embed="rId2"/>
                <a:stretch>
                  <a:fillRect l="-1811" t="-2119" b="-4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93864941"/>
      </p:ext>
    </p:extLst>
  </p:cSld>
  <p:clrMapOvr>
    <a:masterClrMapping/>
  </p:clrMapOvr>
  <p:transition spd="med" advTm="23544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Shapley Values for TURF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928470"/>
              </p:ext>
            </p:extLst>
          </p:nvPr>
        </p:nvGraphicFramePr>
        <p:xfrm>
          <a:off x="4059046" y="918190"/>
          <a:ext cx="4727605" cy="38107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9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838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Shapley Values: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306" marR="9306" marT="9306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5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Standard TURF (depth </a:t>
                      </a:r>
                      <a:r>
                        <a:rPr lang="en-US" sz="1600" b="1" u="none" strike="noStrike" dirty="0">
                          <a:effectLst/>
                        </a:rPr>
                        <a:t>1</a:t>
                      </a:r>
                      <a:r>
                        <a:rPr lang="en-US" sz="1200" b="1" u="none" strike="noStrike" dirty="0">
                          <a:effectLst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TURF depth </a:t>
                      </a:r>
                      <a:r>
                        <a:rPr lang="en-US" sz="1600" b="1" u="none" strike="noStrike" dirty="0">
                          <a:effectLst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>
                          <a:effectLst/>
                        </a:rPr>
                        <a:t>TURF depth </a:t>
                      </a:r>
                      <a:r>
                        <a:rPr lang="en-US" sz="1600" b="1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Information Source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13.8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11.8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11.4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In-person sales rep visit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13.8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13.2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12.8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B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>
                          <a:effectLst/>
                        </a:rPr>
                        <a:t>Informative snail mail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11.7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11.7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10.7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>
                          <a:effectLst/>
                        </a:rPr>
                        <a:t>Emails, E-newsletters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11.6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10.8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10.8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Leaflet/brochure in snail mail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8.0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8.0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8.0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Website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7.1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6.9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6.4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M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Smartphone apps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4.8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4.4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4.4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K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Self-guided online programs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4.4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4.4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4.2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Reminder/alert/pop-up on &lt;xxx&gt;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4.3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3.9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3.4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Live talk with tech experts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1.9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1.9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1.9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Texts from company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1.2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J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Live-assisted online programs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1.4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>
                          <a:effectLst/>
                        </a:rPr>
                        <a:t>Phone call from sales rep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0.9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0.9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0.9</a:t>
                      </a:r>
                    </a:p>
                  </a:txBody>
                  <a:tcPr marL="9306" marR="9306" marT="93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I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</a:pPr>
                      <a:r>
                        <a:rPr lang="en-US" sz="1100" b="1" u="none" strike="noStrike" dirty="0" err="1">
                          <a:effectLst/>
                        </a:rPr>
                        <a:t>Robo</a:t>
                      </a:r>
                      <a:r>
                        <a:rPr lang="en-US" sz="1100" b="1" u="none" strike="noStrike" dirty="0">
                          <a:effectLst/>
                        </a:rPr>
                        <a:t> calls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306" marR="9306" marT="9306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17</a:t>
            </a:fld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92984" y="1032952"/>
            <a:ext cx="3822177" cy="363176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/>
              <a:t>(Same data as “Typical TURF Results” slide, but with 3 depths now.)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This is complete, and informative!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rgbClr val="0033CC"/>
                </a:solidFill>
              </a:rPr>
              <a:t>Easy</a:t>
            </a:r>
            <a:r>
              <a:rPr lang="en-US" sz="1800" dirty="0"/>
              <a:t> to see G and B are close, D and C close behind, rest further back, and other actual “</a:t>
            </a:r>
            <a:r>
              <a:rPr lang="en-US" sz="1800" dirty="0">
                <a:solidFill>
                  <a:srgbClr val="0033CC"/>
                </a:solidFill>
              </a:rPr>
              <a:t>insights</a:t>
            </a:r>
            <a:r>
              <a:rPr lang="en-US" sz="1800" dirty="0"/>
              <a:t>.”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It’s a “road map” to the TURF.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rgbClr val="C00000"/>
                </a:solidFill>
              </a:rPr>
              <a:t>BUT</a:t>
            </a:r>
            <a:r>
              <a:rPr lang="en-US" sz="1800" dirty="0"/>
              <a:t>, does </a:t>
            </a:r>
            <a:r>
              <a:rPr lang="en-US" sz="1800" u="sng" dirty="0"/>
              <a:t>not</a:t>
            </a:r>
            <a:r>
              <a:rPr lang="en-US" sz="1800" dirty="0"/>
              <a:t> answer “Which is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the one best combo?”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6010" y="4667126"/>
            <a:ext cx="4784651" cy="26161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i="1" dirty="0"/>
              <a:t>Sample of 300 physicians surveyed re pharma co. communication channels</a:t>
            </a:r>
          </a:p>
        </p:txBody>
      </p:sp>
    </p:spTree>
    <p:extLst>
      <p:ext uri="{BB962C8B-B14F-4D97-AF65-F5344CB8AC3E}">
        <p14:creationId xmlns:p14="http://schemas.microsoft.com/office/powerpoint/2010/main" val="2384918264"/>
      </p:ext>
    </p:extLst>
  </p:cSld>
  <p:clrMapOvr>
    <a:masterClrMapping/>
  </p:clrMapOvr>
  <p:transition spd="med" advTm="61954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TURF Results 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18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2480758"/>
                  </p:ext>
                </p:extLst>
              </p:nvPr>
            </p:nvGraphicFramePr>
            <p:xfrm>
              <a:off x="2720429" y="1030014"/>
              <a:ext cx="6213365" cy="374655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4221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4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09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2041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55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8347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5194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3602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9368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30925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578069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735724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</a:tblGrid>
                  <a:tr h="249770"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Pairs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=2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Triples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=3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Quads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=4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Quints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=5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77.1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81.7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GDM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83.4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GBMH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GBCMH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75.3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81.6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GDCMH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74.4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74.3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73.6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BD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80.4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GBDCM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72.5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79.9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GBDMH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70.8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79.9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GDCH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GBCMK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70.7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GDCE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GBMKH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9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69.4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9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GDMJ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GBMLH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69.1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79.5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GDE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GBDCL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GBDKH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GBDH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4276689"/>
                  </p:ext>
                </p:extLst>
              </p:nvPr>
            </p:nvGraphicFramePr>
            <p:xfrm>
              <a:off x="2720429" y="1030014"/>
              <a:ext cx="6213365" cy="374655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422165"/>
                    <a:gridCol w="504496"/>
                    <a:gridCol w="430924"/>
                    <a:gridCol w="420414"/>
                    <a:gridCol w="525517"/>
                    <a:gridCol w="483476"/>
                    <a:gridCol w="451945"/>
                    <a:gridCol w="536028"/>
                    <a:gridCol w="693682"/>
                    <a:gridCol w="430925"/>
                    <a:gridCol w="578069"/>
                    <a:gridCol w="735724"/>
                  </a:tblGrid>
                  <a:tr h="24977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1">
                          <a:blip r:embed="rId2"/>
                          <a:stretch>
                            <a:fillRect t="-9756" r="-357399" b="-14390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1">
                          <a:blip r:embed="rId2"/>
                          <a:stretch>
                            <a:fillRect l="-94894" t="-9756" r="-239149" b="-14390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1">
                          <a:blip r:embed="rId2"/>
                          <a:stretch>
                            <a:fillRect l="-165942" t="-9756" r="-103623" b="-14390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1">
                          <a:blip r:embed="rId2"/>
                          <a:stretch>
                            <a:fillRect l="-256643" t="-9756" b="-14390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Rank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Reach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Items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77.1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81.7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GDM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83.4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GBMH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b="1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GBCMH</a:t>
                          </a:r>
                          <a:endParaRPr lang="en-US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75.3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81.6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 smtClean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GDCMH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74.4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74.3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81.4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83.3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84.2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73.6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BD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80.4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GBDCM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72.5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79.9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83.1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GBDMH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70.8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79.9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GDCH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GBCMK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70.7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GDK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GDCE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GBMKH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9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69.4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9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79.7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GDMJ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84.0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GBMLH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69.1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BC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79.5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GDE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GBDL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GBDCL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GBCM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83.8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GBDKH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GBDH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</a:tr>
                  <a:tr h="249770"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40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10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82.7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40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GDMK</a:t>
                          </a:r>
                          <a:endParaRPr lang="en-US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430924" y="893384"/>
            <a:ext cx="2289505" cy="92333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rgbClr val="C00000"/>
                </a:solidFill>
              </a:rPr>
              <a:t>Partial, for just one depth!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05216703"/>
      </p:ext>
    </p:extLst>
  </p:cSld>
  <p:clrMapOvr>
    <a:masterClrMapping/>
  </p:clrMapOvr>
  <p:transition spd="med" advTm="6716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than TURF, Or Just A Different 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1010884"/>
            <a:ext cx="7742237" cy="3163583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SVs are more compact, easier to present and think about, than raw TURF.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/>
              <a:t>SVs are more stable (cross-wave, cross-subgroup comparisons)</a:t>
            </a:r>
          </a:p>
          <a:p>
            <a:pPr>
              <a:spcBef>
                <a:spcPts val="192"/>
              </a:spcBef>
              <a:spcAft>
                <a:spcPts val="192"/>
              </a:spcAft>
            </a:pPr>
            <a:r>
              <a:rPr lang="en-US" sz="1600" dirty="0"/>
              <a:t>They aren’t rankings, but ratio-scaled averages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/>
              <a:t>What about combos of items with the highest Shapley Values?</a:t>
            </a:r>
          </a:p>
          <a:p>
            <a:r>
              <a:rPr lang="en-US" sz="1600" dirty="0">
                <a:solidFill>
                  <a:srgbClr val="C00000"/>
                </a:solidFill>
              </a:rPr>
              <a:t>Not</a:t>
            </a:r>
            <a:r>
              <a:rPr lang="en-US" sz="1600" dirty="0"/>
              <a:t> the same as true best combination</a:t>
            </a:r>
          </a:p>
          <a:p>
            <a:r>
              <a:rPr lang="en-US" sz="1600" dirty="0"/>
              <a:t>Claims sometimes made for them do </a:t>
            </a:r>
            <a:r>
              <a:rPr lang="en-US" sz="1600" dirty="0">
                <a:solidFill>
                  <a:srgbClr val="C00000"/>
                </a:solidFill>
              </a:rPr>
              <a:t>not</a:t>
            </a:r>
            <a:r>
              <a:rPr lang="en-US" sz="1600" dirty="0"/>
              <a:t> hold up in general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19</a:t>
            </a:fld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767" y="3172908"/>
            <a:ext cx="8133060" cy="615553"/>
          </a:xfrm>
          <a:prstGeom prst="rect">
            <a:avLst/>
          </a:prstGeom>
          <a:solidFill>
            <a:schemeClr val="bg1"/>
          </a:solidFill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rgbClr val="0033CC"/>
                </a:solidFill>
              </a:rPr>
              <a:t>SVs are more compact, easier to present and think about, than raw TURF.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And more stable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1861911"/>
      </p:ext>
    </p:extLst>
  </p:cSld>
  <p:clrMapOvr>
    <a:masterClrMapping/>
  </p:clrMapOvr>
  <p:transition spd="med" advTm="254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dirty="0"/>
              <a:t>The Computational Elephant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1186961"/>
            <a:ext cx="7742237" cy="3163583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dirty="0"/>
              <a:t>With 20 items, it takes a while to evaluate the 1 million+ combos involved.  With 25-30, you work really hard.  Beyond that, forget it!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dirty="0"/>
              <a:t>But we can sometimes do a direct, easy, </a:t>
            </a:r>
            <a:r>
              <a:rPr lang="en-US" sz="1800" b="1" i="1" dirty="0">
                <a:solidFill>
                  <a:srgbClr val="0033CC"/>
                </a:solidFill>
              </a:rPr>
              <a:t>exact</a:t>
            </a:r>
            <a:r>
              <a:rPr lang="en-US" sz="1800" dirty="0"/>
              <a:t>, ultra-fast computation</a:t>
            </a:r>
          </a:p>
          <a:p>
            <a:pPr>
              <a:lnSpc>
                <a:spcPct val="100000"/>
              </a:lnSpc>
              <a:spcBef>
                <a:spcPts val="216"/>
              </a:spcBef>
            </a:pPr>
            <a:r>
              <a:rPr lang="en-US" sz="1800" dirty="0"/>
              <a:t>At the </a:t>
            </a:r>
            <a:r>
              <a:rPr lang="en-US" sz="1800" dirty="0">
                <a:solidFill>
                  <a:srgbClr val="C00000"/>
                </a:solidFill>
              </a:rPr>
              <a:t>respondent</a:t>
            </a:r>
            <a:r>
              <a:rPr lang="en-US" sz="1800" dirty="0"/>
              <a:t> level!</a:t>
            </a:r>
          </a:p>
          <a:p>
            <a:pPr>
              <a:lnSpc>
                <a:spcPct val="100000"/>
              </a:lnSpc>
              <a:spcBef>
                <a:spcPts val="216"/>
              </a:spcBef>
            </a:pPr>
            <a:r>
              <a:rPr lang="en-US" sz="1800" dirty="0"/>
              <a:t>For </a:t>
            </a:r>
            <a:r>
              <a:rPr lang="en-US" sz="1800" dirty="0">
                <a:solidFill>
                  <a:srgbClr val="C00000"/>
                </a:solidFill>
              </a:rPr>
              <a:t>some</a:t>
            </a:r>
            <a:r>
              <a:rPr lang="en-US" sz="1800" dirty="0"/>
              <a:t> value functions (including TURF and variants/relatives)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85083017"/>
      </p:ext>
    </p:extLst>
  </p:cSld>
  <p:clrMapOvr>
    <a:masterClrMapping/>
  </p:clrMapOvr>
  <p:transition spd="med" advTm="614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SVs from TURF, at the Respondent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96915" y="955835"/>
                <a:ext cx="7816464" cy="316349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/>
                  <a:t> items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 of them are “hits” for a given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respondent</a:t>
                </a:r>
              </a:p>
              <a:p>
                <a:pPr marL="0" indent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Have a combo of size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𝒌</m:t>
                    </m:r>
                  </m:oMath>
                </a14:m>
                <a:endParaRPr lang="en-US" sz="1600" b="1" dirty="0"/>
              </a:p>
              <a:p>
                <a:pPr marL="0" indent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What happens if we add: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A </a:t>
                </a:r>
                <a:r>
                  <a:rPr lang="en-US" sz="1600" dirty="0" err="1"/>
                  <a:t>nonhit</a:t>
                </a:r>
                <a:r>
                  <a:rPr lang="en-US" sz="1600" dirty="0"/>
                  <a:t>?  Nothing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A hit?</a:t>
                </a:r>
              </a:p>
              <a:p>
                <a:pPr lv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+1, IFF no other hits yet</a:t>
                </a:r>
              </a:p>
              <a:p>
                <a:pPr lv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0, if another hit among the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𝒌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6915" y="955835"/>
                <a:ext cx="7816464" cy="3163490"/>
              </a:xfrm>
              <a:blipFill rotWithShape="1">
                <a:blip r:embed="rId3"/>
                <a:stretch>
                  <a:fillRect l="-1559" t="-1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062605" y="955835"/>
                <a:ext cx="4860677" cy="312222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/>
                  <a:t> = 6        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 = 2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600" dirty="0"/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lang="en-US" sz="16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062605" y="955835"/>
                <a:ext cx="4860677" cy="3122224"/>
              </a:xfrm>
              <a:blipFill rotWithShape="1">
                <a:blip r:embed="rId4"/>
                <a:stretch>
                  <a:fillRect l="-1003" t="-1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100025"/>
              </p:ext>
            </p:extLst>
          </p:nvPr>
        </p:nvGraphicFramePr>
        <p:xfrm>
          <a:off x="8263628" y="1087189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○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64602"/>
              </p:ext>
            </p:extLst>
          </p:nvPr>
        </p:nvGraphicFramePr>
        <p:xfrm>
          <a:off x="7973398" y="778535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●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7"/>
          <p:cNvSpPr/>
          <p:nvPr/>
        </p:nvSpPr>
        <p:spPr bwMode="auto">
          <a:xfrm>
            <a:off x="7399277" y="666195"/>
            <a:ext cx="1355834" cy="1324303"/>
          </a:xfrm>
          <a:prstGeom prst="ellips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07917"/>
              </p:ext>
            </p:extLst>
          </p:nvPr>
        </p:nvGraphicFramePr>
        <p:xfrm>
          <a:off x="7583733" y="955835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○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3354"/>
              </p:ext>
            </p:extLst>
          </p:nvPr>
        </p:nvGraphicFramePr>
        <p:xfrm>
          <a:off x="7583733" y="1328346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○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927157"/>
              </p:ext>
            </p:extLst>
          </p:nvPr>
        </p:nvGraphicFramePr>
        <p:xfrm>
          <a:off x="7912707" y="1432736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○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553303"/>
              </p:ext>
            </p:extLst>
          </p:nvPr>
        </p:nvGraphicFramePr>
        <p:xfrm>
          <a:off x="8274665" y="1470160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●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800992"/>
              </p:ext>
            </p:extLst>
          </p:nvPr>
        </p:nvGraphicFramePr>
        <p:xfrm>
          <a:off x="8513379" y="2584621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●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val 17"/>
          <p:cNvSpPr/>
          <p:nvPr/>
        </p:nvSpPr>
        <p:spPr bwMode="auto">
          <a:xfrm>
            <a:off x="4286121" y="2080468"/>
            <a:ext cx="727579" cy="698253"/>
          </a:xfrm>
          <a:prstGeom prst="ellips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276423"/>
              </p:ext>
            </p:extLst>
          </p:nvPr>
        </p:nvGraphicFramePr>
        <p:xfrm>
          <a:off x="4360092" y="2093944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○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207287"/>
              </p:ext>
            </p:extLst>
          </p:nvPr>
        </p:nvGraphicFramePr>
        <p:xfrm>
          <a:off x="4627442" y="2377045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○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226524"/>
              </p:ext>
            </p:extLst>
          </p:nvPr>
        </p:nvGraphicFramePr>
        <p:xfrm>
          <a:off x="4627442" y="3040179"/>
          <a:ext cx="328974" cy="415152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○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645958"/>
              </p:ext>
            </p:extLst>
          </p:nvPr>
        </p:nvGraphicFramePr>
        <p:xfrm>
          <a:off x="4360092" y="2864539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●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" name="Straight Connector 24"/>
          <p:cNvCxnSpPr/>
          <p:nvPr/>
        </p:nvCxnSpPr>
        <p:spPr bwMode="auto">
          <a:xfrm flipH="1">
            <a:off x="3951883" y="882237"/>
            <a:ext cx="1" cy="2998756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 flipH="1">
            <a:off x="3951884" y="3859251"/>
            <a:ext cx="4971398" cy="11232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Oval 28"/>
          <p:cNvSpPr/>
          <p:nvPr/>
        </p:nvSpPr>
        <p:spPr bwMode="auto">
          <a:xfrm>
            <a:off x="4305839" y="2864539"/>
            <a:ext cx="727579" cy="698253"/>
          </a:xfrm>
          <a:prstGeom prst="ellips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022310"/>
              </p:ext>
            </p:extLst>
          </p:nvPr>
        </p:nvGraphicFramePr>
        <p:xfrm>
          <a:off x="6686945" y="1569160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?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23230"/>
              </p:ext>
            </p:extLst>
          </p:nvPr>
        </p:nvGraphicFramePr>
        <p:xfrm>
          <a:off x="6944445" y="1753090"/>
          <a:ext cx="328974" cy="4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1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?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val 29"/>
          <p:cNvSpPr/>
          <p:nvPr/>
        </p:nvSpPr>
        <p:spPr bwMode="auto">
          <a:xfrm>
            <a:off x="6652130" y="1498761"/>
            <a:ext cx="727579" cy="698253"/>
          </a:xfrm>
          <a:prstGeom prst="ellips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973369" y="1776410"/>
                <a:ext cx="261962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Say we have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/>
                      </a:rPr>
                      <m:t>𝒌</m:t>
                    </m:r>
                  </m:oMath>
                </a14:m>
                <a:r>
                  <a:rPr lang="en-US" sz="1600" dirty="0"/>
                  <a:t> = 2 already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69" y="1776410"/>
                <a:ext cx="2619628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395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4024802" y="1200789"/>
            <a:ext cx="2690388" cy="553998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019669" y="1205237"/>
                <a:ext cx="2823424" cy="584775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rtlCol="0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/>
                  <a:t>Pull aside the hit to evaluate.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/>
                      </a:rPr>
                      <m:t>𝒏</m:t>
                    </m:r>
                    <m:r>
                      <a:rPr lang="en-US" sz="1600" b="1" i="1" dirty="0">
                        <a:latin typeface="Cambria Math"/>
                      </a:rPr>
                      <m:t>−</m:t>
                    </m:r>
                    <m:r>
                      <a:rPr lang="en-US" sz="1600" b="1" i="1" dirty="0"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 left,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/>
                      </a:rPr>
                      <m:t>𝒉</m:t>
                    </m:r>
                    <m:r>
                      <a:rPr lang="en-US" sz="1600" b="1" i="1" dirty="0">
                        <a:latin typeface="Cambria Math"/>
                      </a:rPr>
                      <m:t>−</m:t>
                    </m:r>
                    <m:r>
                      <a:rPr lang="en-US" sz="1600" b="1" i="1" dirty="0"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 of them hits</a:t>
                </a:r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669" y="1205237"/>
                <a:ext cx="2823424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2802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/>
          <p:cNvSpPr/>
          <p:nvPr/>
        </p:nvSpPr>
        <p:spPr bwMode="auto">
          <a:xfrm>
            <a:off x="8397061" y="2516708"/>
            <a:ext cx="552055" cy="569093"/>
          </a:xfrm>
          <a:prstGeom prst="ellips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21601" y="2270369"/>
            <a:ext cx="4327071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/>
              <a:t>If                 then our item “scores the win,” +1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 bwMode="auto">
          <a:xfrm flipH="1" flipV="1">
            <a:off x="4956416" y="2516708"/>
            <a:ext cx="3556964" cy="284546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4016012" y="2999771"/>
            <a:ext cx="4933104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/>
              <a:t>If                 then our item adds nothing.</a:t>
            </a:r>
            <a:endParaRPr lang="en-US" sz="1400" dirty="0"/>
          </a:p>
        </p:txBody>
      </p:sp>
      <p:cxnSp>
        <p:nvCxnSpPr>
          <p:cNvPr id="45" name="Straight Arrow Connector 44"/>
          <p:cNvCxnSpPr/>
          <p:nvPr/>
        </p:nvCxnSpPr>
        <p:spPr bwMode="auto">
          <a:xfrm flipH="1">
            <a:off x="5013700" y="2864540"/>
            <a:ext cx="3499680" cy="221261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Straight Arrow Connector 48"/>
          <p:cNvCxnSpPr/>
          <p:nvPr/>
        </p:nvCxnSpPr>
        <p:spPr bwMode="auto">
          <a:xfrm>
            <a:off x="8513379" y="1776410"/>
            <a:ext cx="159709" cy="882571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bg2"/>
            </a:solidFill>
            <a:prstDash val="sysDash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4013553" y="3483527"/>
                <a:ext cx="4938013" cy="338554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1600" dirty="0"/>
                  <a:t>What’s the chance of no hits in a combo of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/>
                      </a:rPr>
                      <m:t>𝒌</m:t>
                    </m:r>
                    <m:r>
                      <a:rPr lang="en-US" sz="1600" b="1" i="1" dirty="0">
                        <a:latin typeface="Cambria Math"/>
                      </a:rPr>
                      <m:t>=</m:t>
                    </m:r>
                    <m:r>
                      <a:rPr lang="en-US" sz="1600" b="1" i="1" dirty="0"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?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553" y="3483527"/>
                <a:ext cx="4938013" cy="338554"/>
              </a:xfrm>
              <a:prstGeom prst="rect">
                <a:avLst/>
              </a:prstGeom>
              <a:blipFill rotWithShape="1">
                <a:blip r:embed="rId7"/>
                <a:stretch>
                  <a:fillRect l="-1605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2"/>
              <p:cNvSpPr txBox="1">
                <a:spLocks/>
              </p:cNvSpPr>
              <p:nvPr/>
            </p:nvSpPr>
            <p:spPr bwMode="auto">
              <a:xfrm>
                <a:off x="694258" y="3548629"/>
                <a:ext cx="7816464" cy="1034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Clr>
                    <a:schemeClr val="accent1"/>
                  </a:buClr>
                  <a:buFont typeface="Arial"/>
                  <a:buChar char="•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7063" indent="-179388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Clr>
                    <a:schemeClr val="accent1"/>
                  </a:buClr>
                  <a:buFont typeface="Arial"/>
                  <a:buChar char="•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985838" indent="-179388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Clr>
                    <a:schemeClr val="accent1"/>
                  </a:buClr>
                  <a:buFont typeface="Arial"/>
                  <a:buChar char="•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433513" indent="-179388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Clr>
                    <a:schemeClr val="accent1"/>
                  </a:buClr>
                  <a:buFont typeface="Arial"/>
                  <a:buChar char="•"/>
                  <a:defRPr sz="14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792288" indent="-179388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Clr>
                    <a:schemeClr val="accent1"/>
                  </a:buClr>
                  <a:buFont typeface="Arial"/>
                  <a:buChar char="•"/>
                  <a:defRPr sz="12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249488" indent="-179388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Font typeface="Arial Unicode MS" pitchFamily="34" charset="-128"/>
                  <a:buChar char="-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706688" indent="-179388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Font typeface="Arial Unicode MS" pitchFamily="34" charset="-128"/>
                  <a:buChar char="-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163888" indent="-179388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Font typeface="Arial Unicode MS" pitchFamily="34" charset="-128"/>
                  <a:buChar char="-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621088" indent="-179388" algn="l" rtl="0" eaLnBrk="1" fontAlgn="base" hangingPunct="1"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  <a:buFont typeface="Arial Unicode MS" pitchFamily="34" charset="-128"/>
                  <a:buChar char="-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Font typeface="Arial"/>
                  <a:buNone/>
                </a:pPr>
                <a:r>
                  <a:rPr lang="en-US" sz="1800" kern="0" dirty="0">
                    <a:solidFill>
                      <a:srgbClr val="0033CC"/>
                    </a:solidFill>
                  </a:rPr>
                  <a:t>Prob of no hits (</a:t>
                </a:r>
                <a14:m>
                  <m:oMath xmlns:m="http://schemas.openxmlformats.org/officeDocument/2006/math">
                    <m:r>
                      <a:rPr lang="en-US" sz="1800" b="1" i="1" kern="0" dirty="0" smtClean="0">
                        <a:solidFill>
                          <a:srgbClr val="0033CC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 kern="0" dirty="0" smtClean="0">
                        <a:solidFill>
                          <a:srgbClr val="0033CC"/>
                        </a:solidFill>
                        <a:latin typeface="Cambria Math"/>
                      </a:rPr>
                      <m:t>=</m:t>
                    </m:r>
                    <m:r>
                      <a:rPr lang="en-US" sz="1800" b="1" i="1" kern="0" dirty="0" smtClean="0">
                        <a:solidFill>
                          <a:srgbClr val="0033CC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kern="0" dirty="0">
                    <a:solidFill>
                      <a:srgbClr val="0033CC"/>
                    </a:solidFill>
                  </a:rPr>
                  <a:t>) so far is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𝒉𝒚𝒑𝒆𝒓𝒈𝒆𝒐𝒎𝒆𝒕𝒓𝒊𝒄</m:t>
                          </m:r>
                        </m:sub>
                      </m:sSub>
                      <m:r>
                        <a:rPr lang="en-US" sz="1600" b="1" i="1" kern="0">
                          <a:solidFill>
                            <a:srgbClr val="0033CC"/>
                          </a:solidFill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 | 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𝒉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/>
                            </a:rPr>
                            <m:t>𝒌</m:t>
                          </m:r>
                        </m:e>
                      </m:d>
                      <m:r>
                        <a:rPr lang="en-US" sz="1600" b="1" i="1" kern="0">
                          <a:solidFill>
                            <a:srgbClr val="0033CC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b="1" i="1" ker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600" b="1" i="1" ker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b="1" i="1" ker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sz="1600" b="1" i="1" ker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b="1" i="1" ker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𝒏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 −(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𝒌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 −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600" b="1" i="1" ker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b="1" i="1" ker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𝒏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1" i="1" kern="0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𝒌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en-US" sz="1600" kern="0" dirty="0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5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258" y="3548629"/>
                <a:ext cx="7816464" cy="1034663"/>
              </a:xfrm>
              <a:prstGeom prst="rect">
                <a:avLst/>
              </a:prstGeom>
              <a:blipFill rotWithShape="1">
                <a:blip r:embed="rId8"/>
                <a:stretch>
                  <a:fillRect l="-1872" t="-6471" b="-2176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913366"/>
      </p:ext>
    </p:extLst>
  </p:cSld>
  <p:clrMapOvr>
    <a:masterClrMapping/>
  </p:clrMapOvr>
  <p:transition spd="med" advTm="1072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4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6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9" grpId="0" animBg="1"/>
      <p:bldP spid="30" grpId="0" animBg="1"/>
      <p:bldP spid="34" grpId="0"/>
      <p:bldP spid="35" grpId="0"/>
      <p:bldP spid="36" grpId="0"/>
      <p:bldP spid="38" grpId="0" animBg="1"/>
      <p:bldP spid="40" grpId="0"/>
      <p:bldP spid="44" grpId="0"/>
      <p:bldP spid="50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SVs for TURF at the Respondent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2783342"/>
                  </p:ext>
                </p:extLst>
              </p:nvPr>
            </p:nvGraphicFramePr>
            <p:xfrm>
              <a:off x="717631" y="1370870"/>
              <a:ext cx="7558938" cy="31848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07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36686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noFill/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Probability a “hit” item “gets the win”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( = probability of zero hits so far in combo of size k)</a:t>
                          </a:r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224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solidFill>
                                <a:schemeClr val="bg1"/>
                              </a:solidFill>
                            </a:rPr>
                            <a:t>Combo</a:t>
                          </a:r>
                          <a:r>
                            <a:rPr lang="en-US" sz="1400" b="1" baseline="0" dirty="0">
                              <a:solidFill>
                                <a:schemeClr val="bg1"/>
                              </a:solidFill>
                            </a:rPr>
                            <a:t> Size k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Total Hits</a:t>
                          </a:r>
                          <a:r>
                            <a:rPr lang="en-US" sz="1400" baseline="0" dirty="0"/>
                            <a:t> for a Respondent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2246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0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1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2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3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4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5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6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0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0.8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0.1</a:t>
                          </a:r>
                        </a:p>
                      </a:txBody>
                      <a:tcPr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3</a:t>
                          </a:r>
                        </a:p>
                      </a:txBody>
                      <a:tcPr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4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5</a:t>
                          </a:r>
                        </a:p>
                      </a:txBody>
                      <a:tcPr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9768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400" b="1" kern="1200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Col. Avg.</a:t>
                          </a: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0.5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0.333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0.167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2783342"/>
                  </p:ext>
                </p:extLst>
              </p:nvPr>
            </p:nvGraphicFramePr>
            <p:xfrm>
              <a:off x="717631" y="1370870"/>
              <a:ext cx="7558938" cy="31848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0763"/>
                    <a:gridCol w="934025"/>
                    <a:gridCol w="934025"/>
                    <a:gridCol w="934025"/>
                    <a:gridCol w="934025"/>
                    <a:gridCol w="934025"/>
                    <a:gridCol w="934025"/>
                    <a:gridCol w="934025"/>
                  </a:tblGrid>
                  <a:tr h="436686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noFill/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Probability a “hit” item “gets the win”</a:t>
                          </a:r>
                        </a:p>
                        <a:p>
                          <a:pPr algn="ctr"/>
                          <a:r>
                            <a:rPr lang="en-US" sz="1400" dirty="0" smtClean="0"/>
                            <a:t>( = probability of zero hits so far in combo of size k)</a:t>
                          </a:r>
                          <a:endParaRPr lang="en-US" sz="1400" dirty="0"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bg1"/>
                              </a:solidFill>
                            </a:rPr>
                            <a:t>Combo</a:t>
                          </a:r>
                          <a:r>
                            <a:rPr lang="en-US" sz="1400" b="1" baseline="0" dirty="0" smtClean="0">
                              <a:solidFill>
                                <a:schemeClr val="bg1"/>
                              </a:solidFill>
                            </a:rPr>
                            <a:t> Size k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Total Hits</a:t>
                          </a:r>
                          <a:r>
                            <a:rPr lang="en-US" sz="1400" baseline="0" dirty="0" smtClean="0"/>
                            <a:t> for a Respondent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9091" t="-267347" r="-596753" b="-736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210458" t="-267347" r="-500654" b="-736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10458" t="-267347" r="-400654" b="-736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410458" t="-267347" r="-300654" b="-736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507143" t="-267347" r="-198701" b="-736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611111" t="-267347" r="-100000" b="-736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711111" t="-267347" b="-736735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99" t="-360000" r="-642515" b="-6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99" t="-460000" r="-642515" b="-5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0.8</a:t>
                          </a:r>
                          <a:endParaRPr lang="en-US" sz="1400" b="1" dirty="0"/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0.6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0.4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0.2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99" t="-560000" r="-642515" b="-4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0.6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0.3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0.1</a:t>
                          </a:r>
                          <a:endParaRPr lang="en-US" sz="1400" b="1" dirty="0"/>
                        </a:p>
                      </a:txBody>
                      <a:tcPr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99" t="-660000" r="-642515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0.4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0.1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99" t="-760000" r="-642515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0.2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99" t="-860000" r="-642515" b="-1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9768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400" b="1" kern="120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Col. Avg.</a:t>
                          </a:r>
                          <a:endParaRPr lang="en-US" sz="140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0.5</a:t>
                          </a:r>
                          <a:endParaRPr lang="en-US" sz="1400" b="1" dirty="0"/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0.333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0.25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0.2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0.167</a:t>
                          </a:r>
                          <a:endParaRPr lang="en-US" sz="1400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22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54423" y="918145"/>
                <a:ext cx="4389600" cy="40011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2000" dirty="0"/>
                  <a:t>Example for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𝒏</m:t>
                    </m:r>
                    <m:r>
                      <a:rPr lang="en-US" sz="2000" b="0" i="1" smtClean="0">
                        <a:latin typeface="Cambria Math"/>
                      </a:rPr>
                      <m:t>=6</m:t>
                    </m:r>
                  </m:oMath>
                </a14:m>
                <a:r>
                  <a:rPr lang="en-US" sz="2000" dirty="0"/>
                  <a:t> items total.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𝒙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23" y="918145"/>
                <a:ext cx="4389600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2500" t="-6154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84883" y="3373820"/>
                <a:ext cx="2417379" cy="85914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1" i="1"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1" i="1">
                                        <a:latin typeface="Cambria Math"/>
                                      </a:rPr>
                                      <m:t>𝒏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 −(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𝒌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 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1" i="1">
                                        <a:latin typeface="Cambria Math"/>
                                      </a:rPr>
                                      <m:t>𝒏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𝒌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883" y="3373820"/>
                <a:ext cx="2417379" cy="85914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247093" y="4276818"/>
                <a:ext cx="499241" cy="6127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𝒉</m:t>
                          </m:r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093" y="4276818"/>
                <a:ext cx="499241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06180852"/>
      </p:ext>
    </p:extLst>
  </p:cSld>
  <p:clrMapOvr>
    <a:masterClrMapping/>
  </p:clrMapOvr>
  <p:transition spd="med" advTm="4769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Shapley Values via Respondent-Level TURF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All we have to do is: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/>
                  <a:t>Count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𝒉</m:t>
                    </m:r>
                    <m:r>
                      <a:rPr lang="en-US" sz="1800" b="1" i="1" dirty="0" smtClean="0">
                        <a:latin typeface="Cambria Math"/>
                      </a:rPr>
                      <m:t> = </m:t>
                    </m:r>
                  </m:oMath>
                </a14:m>
                <a:r>
                  <a:rPr lang="en-US" sz="1800" dirty="0"/>
                  <a:t>hits per respondent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/>
                  <a:t>Multiply the respondent’s 0/1 item answers by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𝟏</m:t>
                    </m:r>
                    <m:r>
                      <a:rPr lang="en-US" sz="1800" b="1" i="1" dirty="0" smtClean="0">
                        <a:latin typeface="Cambria Math"/>
                      </a:rPr>
                      <m:t>/</m:t>
                    </m:r>
                    <m:r>
                      <a:rPr lang="en-US" sz="1800" b="1" i="1" dirty="0" smtClean="0">
                        <a:latin typeface="Cambria Math"/>
                      </a:rPr>
                      <m:t>𝒉</m:t>
                    </m:r>
                  </m:oMath>
                </a14:m>
                <a:endParaRPr lang="en-US" sz="1800" b="1" dirty="0"/>
              </a:p>
              <a:p>
                <a:pPr>
                  <a:lnSpc>
                    <a:spcPct val="100000"/>
                  </a:lnSpc>
                </a:pPr>
                <a:r>
                  <a:rPr lang="en-US" sz="1800" dirty="0"/>
                  <a:t>Average those products across respondents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With weights if desired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Standard errors/confidence intervals along the way too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1800" dirty="0"/>
                  <a:t>This is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>
                    <a:solidFill>
                      <a:srgbClr val="0033CC"/>
                    </a:solidFill>
                  </a:rPr>
                  <a:t>Exact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/>
                  <a:t>Ultra-Fast (Example: 1009 respondents, 53 items, 0.02 seconds)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/>
                  <a:t>Scalable for huge numbers of items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11" t="-2312" b="-7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21462914"/>
      </p:ext>
    </p:extLst>
  </p:cSld>
  <p:clrMapOvr>
    <a:masterClrMapping/>
  </p:clrMapOvr>
  <p:transition spd="med" advTm="35869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/>
                      </a:rPr>
                      <m:t>𝟏</m:t>
                    </m:r>
                    <m:r>
                      <a:rPr lang="en-US" sz="2800" b="1" i="1" dirty="0" smtClean="0">
                        <a:latin typeface="Cambria Math"/>
                      </a:rPr>
                      <m:t>/</m:t>
                    </m:r>
                    <m:r>
                      <a:rPr lang="en-US" sz="2800" b="1" i="1" dirty="0" smtClean="0">
                        <a:latin typeface="Cambria Math"/>
                      </a:rPr>
                      <m:t>𝒉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b="1" dirty="0"/>
                  <a:t>– </a:t>
                </a:r>
                <a:r>
                  <a:rPr lang="en-US" dirty="0"/>
                  <a:t>Really?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1875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How can this be so simple?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1800" dirty="0"/>
                  <a:t>Unless there are no hits at all, we get to a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𝒗</m:t>
                    </m:r>
                    <m:r>
                      <a:rPr lang="en-US" sz="1800" i="1" dirty="0" smtClean="0">
                        <a:latin typeface="Cambria Math"/>
                      </a:rPr>
                      <m:t>()</m:t>
                    </m:r>
                  </m:oMath>
                </a14:m>
                <a:r>
                  <a:rPr lang="en-US" sz="1800" dirty="0"/>
                  <a:t> of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𝟏</m:t>
                    </m:r>
                    <m:r>
                      <a:rPr lang="en-US" sz="1800" b="1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i="1" dirty="0">
                    <a:solidFill>
                      <a:srgbClr val="C00000"/>
                    </a:solidFill>
                  </a:rPr>
                  <a:t>at some point </a:t>
                </a:r>
                <a:r>
                  <a:rPr lang="en-US" sz="1800" dirty="0"/>
                  <a:t>as we go through any ordering, and we start with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𝒗</m:t>
                    </m:r>
                    <m:r>
                      <a:rPr lang="en-US" sz="1800" b="1" i="1" dirty="0" smtClean="0">
                        <a:latin typeface="Cambria Math"/>
                      </a:rPr>
                      <m:t>({</m:t>
                    </m:r>
                    <m:r>
                      <a:rPr lang="en-US" sz="1800" b="1" i="1" dirty="0" smtClean="0">
                        <a:latin typeface="Cambria Math"/>
                      </a:rPr>
                      <m:t>𝒏𝒖𝒍𝒍</m:t>
                    </m:r>
                    <m:r>
                      <a:rPr lang="en-US" sz="1800" b="1" i="1" dirty="0" smtClean="0">
                        <a:latin typeface="Cambria Math"/>
                      </a:rPr>
                      <m:t>}) = </m:t>
                    </m:r>
                    <m:r>
                      <a:rPr lang="en-US" sz="1800" b="1" i="1" dirty="0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1800" dirty="0"/>
                  <a:t>With the TURF value function, it happens all at once, only question is </a:t>
                </a:r>
                <a:r>
                  <a:rPr lang="en-US" sz="1800" dirty="0">
                    <a:solidFill>
                      <a:srgbClr val="0033CC"/>
                    </a:solidFill>
                  </a:rPr>
                  <a:t>which</a:t>
                </a:r>
                <a:r>
                  <a:rPr lang="en-US" sz="1800" dirty="0"/>
                  <a:t> item “gets the win” and the +1 SV contribution.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1800" dirty="0"/>
                  <a:t>The credit will go to the first hit to enter.  They </a:t>
                </a:r>
                <a:r>
                  <a:rPr lang="en-US" sz="1800" i="1" dirty="0">
                    <a:solidFill>
                      <a:srgbClr val="C00000"/>
                    </a:solidFill>
                  </a:rPr>
                  <a:t>all have an equal shot</a:t>
                </a:r>
                <a:r>
                  <a:rPr lang="en-US" sz="1800" dirty="0"/>
                  <a:t>, so all have a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𝟏</m:t>
                    </m:r>
                    <m:r>
                      <a:rPr lang="en-US" sz="1800" b="1" i="1" dirty="0" smtClean="0">
                        <a:latin typeface="Cambria Math"/>
                      </a:rPr>
                      <m:t>/</m:t>
                    </m:r>
                    <m:r>
                      <a:rPr lang="en-US" sz="1800" b="1" i="1" dirty="0" smtClean="0">
                        <a:latin typeface="Cambria Math"/>
                      </a:rPr>
                      <m:t>𝒉</m:t>
                    </m:r>
                  </m:oMath>
                </a14:m>
                <a:r>
                  <a:rPr lang="en-US" sz="1800" dirty="0"/>
                  <a:t> chance of being first!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1800" dirty="0"/>
                  <a:t>All that messy hypergeometric algebra simplifies down to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𝟏</m:t>
                    </m:r>
                    <m:r>
                      <a:rPr lang="en-US" sz="1800" b="1" i="1" dirty="0" smtClean="0">
                        <a:latin typeface="Cambria Math"/>
                      </a:rPr>
                      <m:t>/</m:t>
                    </m:r>
                    <m:r>
                      <a:rPr lang="en-US" sz="1800" b="1" i="1" dirty="0" smtClean="0">
                        <a:latin typeface="Cambria Math"/>
                      </a:rPr>
                      <m:t>𝒉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120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811" t="-2312" r="-1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24</a:t>
            </a:fld>
            <a:endParaRPr lang="en-US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993" y="400050"/>
            <a:ext cx="4437961" cy="11101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76219" y="1166939"/>
            <a:ext cx="1573508" cy="307777"/>
          </a:xfrm>
          <a:prstGeom prst="rect">
            <a:avLst/>
          </a:prstGeom>
          <a:solidFill>
            <a:schemeClr val="bg1"/>
          </a:solidFill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b="1" dirty="0"/>
              <a:t>Combination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67143" y="709133"/>
                <a:ext cx="87459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1400" b="1" dirty="0"/>
                  <a:t>TURF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latin typeface="Cambria Math"/>
                      </a:rPr>
                      <m:t>𝒗</m:t>
                    </m:r>
                    <m:r>
                      <a:rPr lang="en-US" sz="1400" b="1" i="1" dirty="0" smtClean="0">
                        <a:latin typeface="Cambria Math"/>
                      </a:rPr>
                      <m:t>()</m:t>
                    </m:r>
                  </m:oMath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143" y="709133"/>
                <a:ext cx="874598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6944" t="-1961" r="-277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907578"/>
      </p:ext>
    </p:extLst>
  </p:cSld>
  <p:clrMapOvr>
    <a:masterClrMapping/>
  </p:clrMapOvr>
  <p:transition spd="med" advTm="1854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Other Depths?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27443573"/>
                  </p:ext>
                </p:extLst>
              </p:nvPr>
            </p:nvGraphicFramePr>
            <p:xfrm>
              <a:off x="682907" y="1471229"/>
              <a:ext cx="7593662" cy="31848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54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3402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36686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noFill/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Probability a “hit” item “gets the win”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( = probability of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solidFill>
                                    <a:srgbClr val="FFFF00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400" b="1" i="1" dirty="0" smtClean="0">
                                  <a:solidFill>
                                    <a:srgbClr val="FFFF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400" b="1" i="1" dirty="0" smtClean="0">
                                  <a:solidFill>
                                    <a:srgbClr val="FFFF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sz="1400" dirty="0"/>
                            <a:t> hits so far in combo of size k)</a:t>
                          </a:r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224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solidFill>
                                <a:schemeClr val="bg1"/>
                              </a:solidFill>
                            </a:rPr>
                            <a:t>Combo</a:t>
                          </a:r>
                          <a:r>
                            <a:rPr lang="en-US" sz="1400" b="1" baseline="0" dirty="0">
                              <a:solidFill>
                                <a:schemeClr val="bg1"/>
                              </a:solidFill>
                            </a:rPr>
                            <a:t> Size k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Total Hits</a:t>
                          </a:r>
                          <a:r>
                            <a:rPr lang="en-US" sz="1400" baseline="0" dirty="0"/>
                            <a:t> for a Respondent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2246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0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1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2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3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4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5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𝒉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400" b="1" dirty="0"/>
                            <a:t> 6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0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0.3</a:t>
                          </a:r>
                        </a:p>
                      </a:txBody>
                      <a:tcPr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3</a:t>
                          </a:r>
                        </a:p>
                      </a:txBody>
                      <a:tcPr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0.6</a:t>
                          </a:r>
                        </a:p>
                      </a:txBody>
                      <a:tcPr>
                        <a:lnL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0.6</a:t>
                          </a:r>
                        </a:p>
                      </a:txBody>
                      <a:tcPr>
                        <a:lnL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4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0.6</a:t>
                          </a:r>
                        </a:p>
                      </a:txBody>
                      <a:tcP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922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400" b="1" dirty="0"/>
                            <a:t>5</a:t>
                          </a:r>
                        </a:p>
                      </a:txBody>
                      <a:tcPr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1.0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9768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400" b="1" kern="1200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Col. Avg.</a:t>
                          </a: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solidFill>
                                <a:srgbClr val="C00000"/>
                              </a:solidFill>
                            </a:rPr>
                            <a:t>0.0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solidFill>
                                <a:srgbClr val="C00000"/>
                              </a:solidFill>
                            </a:rPr>
                            <a:t>0.0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0.333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0.167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27443573"/>
                  </p:ext>
                </p:extLst>
              </p:nvPr>
            </p:nvGraphicFramePr>
            <p:xfrm>
              <a:off x="682907" y="1471229"/>
              <a:ext cx="7593662" cy="31848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5487"/>
                    <a:gridCol w="934025"/>
                    <a:gridCol w="934025"/>
                    <a:gridCol w="934025"/>
                    <a:gridCol w="934025"/>
                    <a:gridCol w="934025"/>
                    <a:gridCol w="934025"/>
                    <a:gridCol w="934025"/>
                  </a:tblGrid>
                  <a:tr h="436686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noFill/>
                      </a:tcPr>
                    </a:tc>
                    <a:tc gridSpan="7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 rotWithShape="1">
                          <a:blip r:embed="rId2"/>
                          <a:stretch>
                            <a:fillRect l="-16123" t="-11111" b="-63888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bg1"/>
                              </a:solidFill>
                            </a:rPr>
                            <a:t>Combo</a:t>
                          </a:r>
                          <a:r>
                            <a:rPr lang="en-US" sz="1400" b="1" baseline="0" dirty="0" smtClean="0">
                              <a:solidFill>
                                <a:schemeClr val="bg1"/>
                              </a:solidFill>
                            </a:rPr>
                            <a:t> Size k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Total Hits</a:t>
                          </a:r>
                          <a:r>
                            <a:rPr lang="en-US" sz="1400" baseline="0" dirty="0" smtClean="0"/>
                            <a:t> for a Respondent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13072" t="-260000" r="-601307" b="-7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211688" t="-260000" r="-497403" b="-7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313725" t="-260000" r="-400654" b="-7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413725" t="-260000" r="-300654" b="-7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513725" t="-260000" r="-200654" b="-7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609740" t="-260000" r="-99351" b="-7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714379" t="-260000" b="-720000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60000" r="-620231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460000" r="-620231" b="-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560000" r="-620231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0.1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0.3</a:t>
                          </a:r>
                          <a:endParaRPr lang="en-US" sz="1400" b="1" dirty="0"/>
                        </a:p>
                      </a:txBody>
                      <a:tcPr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0.6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660000" r="-620231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0.3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0.6</a:t>
                          </a:r>
                          <a:endParaRPr lang="en-US" sz="1400" b="1" dirty="0"/>
                        </a:p>
                      </a:txBody>
                      <a:tcPr>
                        <a:lnL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0.6</a:t>
                          </a:r>
                          <a:endParaRPr lang="en-US" sz="1400" b="1" dirty="0"/>
                        </a:p>
                      </a:txBody>
                      <a:tcPr>
                        <a:lnL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760000" r="-620231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0.6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0.6</a:t>
                          </a:r>
                          <a:endParaRPr lang="en-US" sz="1400" b="1" dirty="0"/>
                        </a:p>
                      </a:txBody>
                      <a:tcP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860000" r="-620231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F1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1.0</a:t>
                          </a:r>
                          <a:endParaRPr lang="en-US" sz="1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0.0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</a:tr>
                  <a:tr h="309768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400" b="1" kern="120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Col. Avg.</a:t>
                          </a:r>
                          <a:endParaRPr lang="en-US" sz="140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0.0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rgbClr val="C00000"/>
                              </a:solidFill>
                            </a:rPr>
                            <a:t>0.0</a:t>
                          </a:r>
                          <a:endParaRPr lang="en-US" sz="1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rgbClr val="C00000"/>
                              </a:solidFill>
                            </a:rPr>
                            <a:t>0.0</a:t>
                          </a:r>
                          <a:endParaRPr lang="en-US" sz="1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0.333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0.25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0.2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0.167</a:t>
                          </a:r>
                          <a:endParaRPr lang="en-US" sz="1400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25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54423" y="1029655"/>
                <a:ext cx="6381106" cy="40011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2000" dirty="0"/>
                  <a:t>Just set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𝒙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b="1" i="1" dirty="0" smtClean="0">
                        <a:latin typeface="Cambria Math"/>
                      </a:rPr>
                      <m:t>𝒅𝒆𝒑𝒕𝒉</m:t>
                    </m:r>
                    <m:r>
                      <a:rPr lang="en-US" sz="2000" b="1" i="1" dirty="0" smtClean="0"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latin typeface="Cambria Math"/>
                      </a:rPr>
                      <m:t>.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Cambria Math"/>
                      </a:rPr>
                      <m:t>  </m:t>
                    </m:r>
                    <m:r>
                      <m:rPr>
                        <m:nor/>
                      </m:rPr>
                      <a:rPr lang="en-US" sz="2000" b="0" i="0" dirty="0" smtClean="0"/>
                      <m:t> </m:t>
                    </m:r>
                    <m:r>
                      <m:rPr>
                        <m:nor/>
                      </m:rPr>
                      <a:rPr lang="en-US" sz="2000" b="0" i="0" dirty="0" smtClean="0"/>
                      <m:t>In</m:t>
                    </m:r>
                    <m:r>
                      <m:rPr>
                        <m:nor/>
                      </m:rPr>
                      <a:rPr lang="en-US" sz="2000" b="0" i="0" dirty="0" smtClean="0"/>
                      <m:t> </m:t>
                    </m:r>
                    <m:r>
                      <m:rPr>
                        <m:nor/>
                      </m:rPr>
                      <a:rPr lang="en-US" sz="2000" b="0" i="0" dirty="0" smtClean="0"/>
                      <m:t>below</m:t>
                    </m:r>
                    <m:r>
                      <m:rPr>
                        <m:nor/>
                      </m:rPr>
                      <a:rPr lang="en-US" sz="2000" b="0" i="0" dirty="0" smtClean="0"/>
                      <m:t>, </m:t>
                    </m:r>
                    <m:r>
                      <a:rPr lang="en-US" sz="2000" b="1" i="1" dirty="0" smtClean="0">
                        <a:latin typeface="Cambria Math"/>
                      </a:rPr>
                      <m:t>𝒅𝒆𝒑𝒕𝒉</m:t>
                    </m:r>
                    <m:r>
                      <a:rPr lang="en-US" sz="2000" b="1" i="1" dirty="0" smtClean="0">
                        <a:latin typeface="Cambria Math"/>
                      </a:rPr>
                      <m:t>=</m:t>
                    </m:r>
                    <m:r>
                      <a:rPr lang="en-US" sz="2000" b="1" i="1" dirty="0" smtClean="0">
                        <a:latin typeface="Cambria Math"/>
                      </a:rPr>
                      <m:t>𝟑</m:t>
                    </m:r>
                    <m:r>
                      <a:rPr lang="en-US" sz="2000" b="1" i="1" dirty="0" smtClean="0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/>
                      <m:t>so</m:t>
                    </m:r>
                    <m:r>
                      <m:rPr>
                        <m:nor/>
                      </m:rPr>
                      <a:rPr lang="en-US" sz="2000" b="0" i="0" dirty="0" smtClean="0"/>
                      <m:t> </m:t>
                    </m:r>
                    <m:r>
                      <a:rPr lang="en-US" sz="2000" b="1" i="1" dirty="0" smtClean="0">
                        <a:latin typeface="Cambria Math"/>
                      </a:rPr>
                      <m:t>𝒙</m:t>
                    </m:r>
                    <m:r>
                      <a:rPr lang="en-US" sz="2000" b="0" i="0" dirty="0" smtClean="0">
                        <a:latin typeface="Cambria Math"/>
                      </a:rPr>
                      <m:t>=2</m:t>
                    </m:r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23" y="1029655"/>
                <a:ext cx="6381106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719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49339" y="2522483"/>
                <a:ext cx="2417379" cy="85914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1" i="1"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1" i="1">
                                        <a:latin typeface="Cambria Math"/>
                                      </a:rPr>
                                      <m:t>𝒏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 −(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𝒌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 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1" i="1">
                                        <a:latin typeface="Cambria Math"/>
                                      </a:rPr>
                                      <m:t>𝒏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400" b="1" i="1">
                                        <a:latin typeface="Cambria Math"/>
                                      </a:rPr>
                                      <m:t>𝒌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339" y="2522483"/>
                <a:ext cx="2417379" cy="85914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066930" y="4276818"/>
                <a:ext cx="499241" cy="6127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𝒉</m:t>
                          </m:r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930" y="4276818"/>
                <a:ext cx="499241" cy="6127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5311" y="4637352"/>
                <a:ext cx="6293834" cy="2521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Chance</m:t>
                    </m:r>
                    <m: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of</m:t>
                    </m:r>
                    <m: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being</m:t>
                    </m:r>
                    <m:r>
                      <m:rPr>
                        <m:nor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 3</m:t>
                    </m:r>
                    <m:r>
                      <m:rPr>
                        <m:nor/>
                      </m:rPr>
                      <a:rPr lang="en-US" sz="1600" baseline="30000" dirty="0">
                        <a:solidFill>
                          <a:srgbClr val="C00000"/>
                        </a:solidFill>
                        <a:latin typeface="Cambria Math"/>
                      </a:rPr>
                      <m:t>rd</m:t>
                    </m:r>
                    <m:r>
                      <m:rPr>
                        <m:nor/>
                      </m:rPr>
                      <a:rPr lang="en-US" sz="1600" b="0" i="0" baseline="30000" dirty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is</m:t>
                    </m:r>
                    <m: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same</m:t>
                    </m:r>
                    <m: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as</m:t>
                    </m:r>
                    <m: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of</m:t>
                    </m:r>
                    <m:r>
                      <m:rPr>
                        <m:nor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smtClean="0">
                        <a:solidFill>
                          <a:srgbClr val="C00000"/>
                        </a:solidFill>
                        <a:latin typeface="Cambria Math"/>
                      </a:rPr>
                      <m:t>first</m:t>
                    </m:r>
                    <m:r>
                      <a:rPr lang="en-US" sz="1600" b="0" i="1" dirty="0" smtClean="0">
                        <a:solidFill>
                          <a:srgbClr val="C00000"/>
                        </a:solidFill>
                        <a:latin typeface="Cambria Math"/>
                      </a:rPr>
                      <m:t>: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/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100" dirty="0">
                    <a:latin typeface="+mn-lt"/>
                  </a:rPr>
                  <a:t> </a:t>
                </a:r>
                <a:r>
                  <a:rPr lang="en-US" sz="1600" dirty="0">
                    <a:solidFill>
                      <a:srgbClr val="C00000"/>
                    </a:solidFill>
                    <a:latin typeface="Cambria Math"/>
                  </a:rPr>
                  <a:t>(unless only 1 or 2, so no 3</a:t>
                </a:r>
                <a:r>
                  <a:rPr lang="en-US" sz="1600" baseline="30000" dirty="0">
                    <a:solidFill>
                      <a:srgbClr val="C00000"/>
                    </a:solidFill>
                    <a:latin typeface="Cambria Math"/>
                  </a:rPr>
                  <a:t>rd</a:t>
                </a:r>
                <a:r>
                  <a:rPr lang="en-US" sz="1600" dirty="0">
                    <a:solidFill>
                      <a:srgbClr val="C00000"/>
                    </a:solidFill>
                    <a:latin typeface="Cambria Math"/>
                  </a:rPr>
                  <a:t>).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11" y="4637352"/>
                <a:ext cx="6293834" cy="252198"/>
              </a:xfrm>
              <a:prstGeom prst="rect">
                <a:avLst/>
              </a:prstGeom>
              <a:blipFill rotWithShape="1">
                <a:blip r:embed="rId6"/>
                <a:stretch>
                  <a:fillRect l="-1064" t="-25581" r="-677" b="-3953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649066"/>
      </p:ext>
    </p:extLst>
  </p:cSld>
  <p:clrMapOvr>
    <a:masterClrMapping/>
  </p:clrMapOvr>
  <p:transition spd="med" advTm="482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Just for TURFs, Right?  </a:t>
            </a:r>
            <a:r>
              <a:rPr lang="en-US" dirty="0">
                <a:solidFill>
                  <a:srgbClr val="C00000"/>
                </a:solidFill>
              </a:rPr>
              <a:t>NO!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019694"/>
                <a:ext cx="7742237" cy="31635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Can use same idea for other value functions, </a:t>
                </a:r>
                <a:r>
                  <a:rPr lang="en-US" sz="1800" dirty="0">
                    <a:solidFill>
                      <a:srgbClr val="C00000"/>
                    </a:solidFill>
                  </a:rPr>
                  <a:t>maybe ….</a:t>
                </a:r>
              </a:p>
              <a:p>
                <a:r>
                  <a:rPr lang="en-US" sz="1600" dirty="0"/>
                  <a:t>Ones that work off 0/1 data (maybe -1/0/1 data?) are best/easiest bets.</a:t>
                </a:r>
              </a:p>
              <a:p>
                <a:r>
                  <a:rPr lang="en-US" sz="1600" dirty="0"/>
                  <a:t>Ones with discrete jumps in the value function likely make things simpler too.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1800" dirty="0"/>
                  <a:t>Work out the combinatorial algebra for tables like we’ve just seen</a:t>
                </a:r>
              </a:p>
              <a:p>
                <a:pPr>
                  <a:spcBef>
                    <a:spcPts val="240"/>
                  </a:spcBef>
                </a:pPr>
                <a:r>
                  <a:rPr lang="en-US" sz="1600" dirty="0"/>
                  <a:t>Given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/>
                  <a:t> items,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 total hits, and a combination of size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/>
                      </a:rPr>
                      <m:t>𝒌</m:t>
                    </m:r>
                  </m:oMath>
                </a14:m>
                <a:r>
                  <a:rPr lang="en-US" sz="1600" dirty="0"/>
                  <a:t> how many of the hits already need to be among the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/>
                      </a:rPr>
                      <m:t>𝒌</m:t>
                    </m:r>
                  </m:oMath>
                </a14:m>
                <a:r>
                  <a:rPr lang="en-US" sz="1600" dirty="0"/>
                  <a:t> for the hit we’re looking at to “score the win”?</a:t>
                </a:r>
              </a:p>
              <a:p>
                <a:pPr>
                  <a:spcBef>
                    <a:spcPts val="240"/>
                  </a:spcBef>
                </a:pPr>
                <a:r>
                  <a:rPr lang="en-US" sz="1600" dirty="0"/>
                  <a:t>Do non-hits potentially turn things around?  Make a payoff table for them too, for their negative effects.</a:t>
                </a:r>
              </a:p>
              <a:p>
                <a:pPr>
                  <a:spcBef>
                    <a:spcPts val="240"/>
                  </a:spcBef>
                </a:pPr>
                <a:r>
                  <a:rPr lang="en-US" sz="1600" dirty="0"/>
                  <a:t>If you have hits, non-hits and neutrals, say, look at multivariate hypergeometric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Be careful to check/force 0’s and 1’s in corners of the table where outside the legal range of the hypergeometric parameters (especially in Excel!).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019694"/>
                <a:ext cx="7742237" cy="3163583"/>
              </a:xfrm>
              <a:blipFill rotWithShape="1">
                <a:blip r:embed="rId2"/>
                <a:stretch>
                  <a:fillRect l="-1811" t="-2119" b="-19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36524109"/>
      </p:ext>
    </p:extLst>
  </p:cSld>
  <p:clrMapOvr>
    <a:masterClrMapping/>
  </p:clrMapOvr>
  <p:transition spd="med" advTm="757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Just for “Real” TURFs, Right?  </a:t>
            </a:r>
            <a:r>
              <a:rPr lang="en-US" dirty="0">
                <a:solidFill>
                  <a:srgbClr val="C00000"/>
                </a:solidFill>
              </a:rPr>
              <a:t>NO!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941635"/>
                <a:ext cx="7742237" cy="3163583"/>
              </a:xfrm>
            </p:spPr>
            <p:txBody>
              <a:bodyPr/>
              <a:lstStyle/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Reach:  </a:t>
                </a:r>
                <a:r>
                  <a:rPr lang="en-US" dirty="0"/>
                  <a:t>include </a:t>
                </a:r>
                <a:r>
                  <a:rPr lang="en-US" u="sng" dirty="0"/>
                  <a:t>at least one</a:t>
                </a:r>
                <a:r>
                  <a:rPr lang="en-US" dirty="0"/>
                  <a:t> hit (or at least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𝒅𝒆𝒑𝒕𝒉</m:t>
                    </m:r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𝒅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1088136" lvl="3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800" b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𝒉𝒚𝒑𝒆𝒓𝒈𝒆𝒐𝒎𝒆𝒕𝒓𝒊𝒄</m:t>
                        </m:r>
                        <m:r>
                          <a:rPr lang="en-US" sz="2000" b="1" i="1" smtClean="0">
                            <a:latin typeface="Cambria Math"/>
                          </a:rPr>
                          <m:t> 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  <m:r>
                          <a:rPr lang="en-US" sz="2000" b="1" i="1">
                            <a:latin typeface="Cambria Math"/>
                          </a:rPr>
                          <m:t>𝒅</m:t>
                        </m:r>
                        <m:r>
                          <a:rPr lang="en-US" sz="2000" b="1" i="1">
                            <a:latin typeface="Cambria Math"/>
                          </a:rPr>
                          <m:t>−</m:t>
                        </m:r>
                        <m:r>
                          <a:rPr lang="en-US" sz="2000" b="1" i="1">
                            <a:latin typeface="Cambria Math"/>
                          </a:rPr>
                          <m:t>𝟏</m:t>
                        </m:r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𝒉</m:t>
                    </m:r>
                    <m:r>
                      <a:rPr lang="en-US" sz="2000" b="1" i="1">
                        <a:latin typeface="Cambria Math"/>
                      </a:rPr>
                      <m:t>−</m:t>
                    </m:r>
                    <m:r>
                      <a:rPr lang="en-US" sz="2000" b="1" i="1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𝒏</m:t>
                    </m:r>
                    <m:r>
                      <a:rPr lang="en-US" sz="2000" b="1" i="1">
                        <a:latin typeface="Cambria Math"/>
                      </a:rPr>
                      <m:t>−</m:t>
                    </m:r>
                    <m:r>
                      <a:rPr lang="en-US" sz="2000" b="1" i="1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𝒌</m:t>
                    </m:r>
                    <m:r>
                      <a:rPr lang="en-US" sz="2000" b="1" i="1">
                        <a:latin typeface="Cambria Math"/>
                      </a:rPr>
                      <m:t> )</m:t>
                    </m:r>
                  </m:oMath>
                </a14:m>
                <a:endParaRPr lang="en-US" sz="1800" b="1" dirty="0"/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Coverage:  </a:t>
                </a:r>
                <a:r>
                  <a:rPr lang="en-US" dirty="0"/>
                  <a:t>include </a:t>
                </a:r>
                <a:r>
                  <a:rPr lang="en-US" u="sng" dirty="0"/>
                  <a:t>all the hits</a:t>
                </a:r>
                <a:r>
                  <a:rPr lang="en-US" dirty="0"/>
                  <a:t> (or omit at most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𝒅𝒆𝒑𝒕𝒉</m:t>
                    </m:r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𝒅</m:t>
                    </m:r>
                  </m:oMath>
                </a14:m>
                <a:r>
                  <a:rPr lang="en-US" dirty="0"/>
                  <a:t> of them)</a:t>
                </a:r>
              </a:p>
              <a:p>
                <a:pPr marL="1090613" lvl="3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𝒉𝒚𝒑𝒆𝒓𝒈𝒆𝒐𝒎𝒆𝒕𝒓𝒊𝒄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𝒉</m:t>
                        </m:r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−(</m:t>
                        </m:r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𝒅</m:t>
                        </m:r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) 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𝒉</m:t>
                    </m:r>
                    <m:r>
                      <a:rPr lang="en-US" sz="2000" b="1" i="1">
                        <a:latin typeface="Cambria Math"/>
                      </a:rPr>
                      <m:t>−</m:t>
                    </m:r>
                    <m:r>
                      <a:rPr lang="en-US" sz="2000" b="1" i="1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𝒏</m:t>
                    </m:r>
                    <m:r>
                      <a:rPr lang="en-US" sz="2000" b="1" i="1">
                        <a:latin typeface="Cambria Math"/>
                      </a:rPr>
                      <m:t>−</m:t>
                    </m:r>
                    <m:r>
                      <a:rPr lang="en-US" sz="2000" b="1" i="1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𝒌</m:t>
                    </m:r>
                    <m:r>
                      <a:rPr lang="en-US" sz="2000" b="1" i="1">
                        <a:latin typeface="Cambria Math"/>
                      </a:rPr>
                      <m:t> )</m:t>
                    </m:r>
                  </m:oMath>
                </a14:m>
                <a:endParaRPr lang="en-US" b="1" dirty="0">
                  <a:solidFill>
                    <a:srgbClr val="C00000"/>
                  </a:solidFill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Majority:  </a:t>
                </a:r>
                <a:r>
                  <a:rPr lang="en-US" dirty="0"/>
                  <a:t>strictly </a:t>
                </a:r>
                <a:r>
                  <a:rPr lang="en-US" u="sng" dirty="0">
                    <a:solidFill>
                      <a:schemeClr val="tx1"/>
                    </a:solidFill>
                  </a:rPr>
                  <a:t>more hits than non</a:t>
                </a:r>
                <a:r>
                  <a:rPr lang="en-US" dirty="0">
                    <a:solidFill>
                      <a:schemeClr val="tx1"/>
                    </a:solidFill>
                  </a:rPr>
                  <a:t>-hits </a:t>
                </a:r>
                <a:r>
                  <a:rPr lang="en-US" sz="1600" dirty="0">
                    <a:solidFill>
                      <a:srgbClr val="0070C0"/>
                    </a:solidFill>
                  </a:rPr>
                  <a:t>(negative </a:t>
                </a:r>
                <a:r>
                  <a:rPr lang="en-US" sz="1600" dirty="0" err="1">
                    <a:solidFill>
                      <a:srgbClr val="0070C0"/>
                    </a:solidFill>
                  </a:rPr>
                  <a:t>Shapleys</a:t>
                </a:r>
                <a:r>
                  <a:rPr lang="en-US" sz="1600" dirty="0">
                    <a:solidFill>
                      <a:srgbClr val="0070C0"/>
                    </a:solidFill>
                  </a:rPr>
                  <a:t> for non-hits)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𝒉𝒚𝒑𝒆𝒓𝒈𝒆𝒐𝒎𝒆𝒕𝒓𝒊𝒄</m:t>
                        </m:r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sz="20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/</m:t>
                            </m:r>
                            <m: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</m:d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𝒉</m:t>
                    </m:r>
                    <m:r>
                      <a:rPr lang="en-US" sz="2000" b="1" i="1">
                        <a:latin typeface="Cambria Math"/>
                      </a:rPr>
                      <m:t>−</m:t>
                    </m:r>
                    <m:r>
                      <a:rPr lang="en-US" sz="2000" b="1" i="1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𝒏</m:t>
                    </m:r>
                    <m:r>
                      <a:rPr lang="en-US" sz="2000" b="1" i="1">
                        <a:latin typeface="Cambria Math"/>
                      </a:rPr>
                      <m:t>−</m:t>
                    </m:r>
                    <m:r>
                      <a:rPr lang="en-US" sz="2000" b="1" i="1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𝒌</m:t>
                    </m:r>
                    <m:r>
                      <a:rPr lang="en-US" sz="2000" b="1" i="1">
                        <a:latin typeface="Cambria Math"/>
                      </a:rPr>
                      <m:t> )</m:t>
                    </m:r>
                  </m:oMath>
                </a14:m>
                <a:r>
                  <a:rPr lang="en-US" sz="2000" dirty="0">
                    <a:ea typeface="+mn-ea"/>
                  </a:rPr>
                  <a:t> </a:t>
                </a:r>
                <a:r>
                  <a:rPr lang="en-US" sz="2000" dirty="0">
                    <a:solidFill>
                      <a:srgbClr val="0070C0"/>
                    </a:solidFill>
                    <a:ea typeface="+mn-ea"/>
                  </a:rPr>
                  <a:t>for hits’ +1’s</a:t>
                </a:r>
              </a:p>
              <a:p>
                <a:pPr marL="815975" lvl="5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𝒉𝒚𝒑𝒆𝒓𝒈𝒆𝒐𝒎𝒆𝒕𝒓𝒊𝒄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 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sz="20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/</m:t>
                            </m:r>
                            <m: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</m:d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𝒉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𝒏</m:t>
                    </m:r>
                    <m:r>
                      <a:rPr lang="en-US" sz="2000" b="1" i="1">
                        <a:latin typeface="Cambria Math"/>
                      </a:rPr>
                      <m:t>−</m:t>
                    </m:r>
                    <m:r>
                      <a:rPr lang="en-US" sz="2000" b="1" i="1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,   </m:t>
                    </m:r>
                    <m:r>
                      <a:rPr lang="en-US" sz="2000" b="1" i="1">
                        <a:latin typeface="Cambria Math"/>
                      </a:rPr>
                      <m:t>𝒌</m:t>
                    </m:r>
                    <m:r>
                      <a:rPr lang="en-US" sz="2000" b="1" i="1">
                        <a:latin typeface="Cambria Math"/>
                      </a:rPr>
                      <m:t> )</m:t>
                    </m:r>
                  </m:oMath>
                </a14:m>
                <a:r>
                  <a:rPr lang="en-US" sz="2000" dirty="0"/>
                  <a:t> </a:t>
                </a: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2187575" lvl="8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				 for non-hits’ -1’s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Non-excess:  </a:t>
                </a:r>
                <a:r>
                  <a:rPr lang="en-US" dirty="0">
                    <a:solidFill>
                      <a:schemeClr val="tx1"/>
                    </a:solidFill>
                  </a:rPr>
                  <a:t>include </a:t>
                </a:r>
                <a:r>
                  <a:rPr lang="en-US" u="sng" dirty="0">
                    <a:solidFill>
                      <a:schemeClr val="tx1"/>
                    </a:solidFill>
                  </a:rPr>
                  <a:t>only</a:t>
                </a:r>
                <a:r>
                  <a:rPr lang="en-US" dirty="0">
                    <a:solidFill>
                      <a:schemeClr val="tx1"/>
                    </a:solidFill>
                  </a:rPr>
                  <a:t> hits (or at most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𝒅𝒆𝒑𝒕𝒉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non-hits)</a:t>
                </a:r>
              </a:p>
              <a:p>
                <a:pPr marL="642938" lvl="2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Just reverse signs and 0/1’s on unduplicated reach (negative SVs)</a:t>
                </a:r>
              </a:p>
              <a:p>
                <a:pPr marL="1090613" lvl="3" indent="0">
                  <a:lnSpc>
                    <a:spcPct val="100000"/>
                  </a:lnSpc>
                  <a:spcBef>
                    <a:spcPts val="240"/>
                  </a:spcBef>
                  <a:spcAft>
                    <a:spcPts val="0"/>
                  </a:spcAft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941635"/>
                <a:ext cx="7742237" cy="3163583"/>
              </a:xfrm>
              <a:blipFill rotWithShape="1">
                <a:blip r:embed="rId2"/>
                <a:stretch>
                  <a:fillRect l="-1969" t="-2119" b="-2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27</a:t>
            </a:fld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76827"/>
      </p:ext>
    </p:extLst>
  </p:cSld>
  <p:clrMapOvr>
    <a:masterClrMapping/>
  </p:clrMapOvr>
  <p:transition spd="med" advTm="59237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Just for “Real” TURFs!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186961"/>
                <a:ext cx="8169293" cy="3163583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What if we said TURF depth 3, but with partial credit along the way?  (1/3 for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first hit, 1/3 for next, 1/3 for third, no more after that).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Partial-credit reach:  </a:t>
                </a:r>
                <a:r>
                  <a:rPr lang="en-US" sz="1800" dirty="0"/>
                  <a:t>1/3 for each of first three hits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𝒉𝒚𝒑𝒆𝒓𝒈𝒆𝒐𝒎𝒆𝒕𝒓𝒊𝒄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</a:rPr>
                        <m:t>𝒉</m:t>
                      </m:r>
                      <m:r>
                        <a:rPr lang="en-US" b="1" i="1">
                          <a:latin typeface="Cambria Math"/>
                        </a:rPr>
                        <m:t>−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</a:rPr>
                        <m:t>, </m:t>
                      </m:r>
                      <m:r>
                        <a:rPr lang="en-US" b="1" i="1">
                          <a:latin typeface="Cambria Math"/>
                        </a:rPr>
                        <m:t>𝒏</m:t>
                      </m:r>
                      <m:r>
                        <a:rPr lang="en-US" b="1" i="1">
                          <a:latin typeface="Cambria Math"/>
                        </a:rPr>
                        <m:t>−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</a:rPr>
                        <m:t>, </m:t>
                      </m:r>
                      <m:r>
                        <a:rPr lang="en-US" b="1" i="1">
                          <a:latin typeface="Cambria Math"/>
                        </a:rPr>
                        <m:t>𝒌</m:t>
                      </m:r>
                      <m:r>
                        <a:rPr lang="en-US" b="1" i="1">
                          <a:latin typeface="Cambria Math"/>
                        </a:rPr>
                        <m:t> )</m:t>
                      </m:r>
                    </m:oMath>
                  </m:oMathPara>
                </a14:m>
                <a:endParaRPr lang="en-US" sz="18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𝒉𝒚𝒑𝒆𝒓𝒈𝒆𝒐𝒎𝒆𝒕𝒓𝒊𝒄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</a:rPr>
                        <m:t>𝒉</m:t>
                      </m:r>
                      <m:r>
                        <a:rPr lang="en-US" b="1" i="1">
                          <a:latin typeface="Cambria Math"/>
                        </a:rPr>
                        <m:t>−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</a:rPr>
                        <m:t>, </m:t>
                      </m:r>
                      <m:r>
                        <a:rPr lang="en-US" b="1" i="1">
                          <a:latin typeface="Cambria Math"/>
                        </a:rPr>
                        <m:t>𝒏</m:t>
                      </m:r>
                      <m:r>
                        <a:rPr lang="en-US" b="1" i="1">
                          <a:latin typeface="Cambria Math"/>
                        </a:rPr>
                        <m:t>−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</a:rPr>
                        <m:t>, </m:t>
                      </m:r>
                      <m:r>
                        <a:rPr lang="en-US" b="1" i="1">
                          <a:latin typeface="Cambria Math"/>
                        </a:rPr>
                        <m:t>𝒌</m:t>
                      </m:r>
                      <m:r>
                        <a:rPr lang="en-US" b="1" i="1">
                          <a:latin typeface="Cambria Math"/>
                        </a:rPr>
                        <m:t> )</m:t>
                      </m:r>
                    </m:oMath>
                  </m:oMathPara>
                </a14:m>
                <a:endParaRPr lang="en-US" sz="18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𝒉𝒚𝒑𝒆𝒓𝒈𝒆𝒐𝒎𝒆𝒕𝒓𝒊𝒄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</a:rPr>
                        <m:t>𝒉</m:t>
                      </m:r>
                      <m:r>
                        <a:rPr lang="en-US" b="1" i="1">
                          <a:latin typeface="Cambria Math"/>
                        </a:rPr>
                        <m:t>−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</a:rPr>
                        <m:t>, </m:t>
                      </m:r>
                      <m:r>
                        <a:rPr lang="en-US" b="1" i="1">
                          <a:latin typeface="Cambria Math"/>
                        </a:rPr>
                        <m:t>𝒏</m:t>
                      </m:r>
                      <m:r>
                        <a:rPr lang="en-US" b="1" i="1">
                          <a:latin typeface="Cambria Math"/>
                        </a:rPr>
                        <m:t>−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</a:rPr>
                        <m:t>, </m:t>
                      </m:r>
                      <m:r>
                        <a:rPr lang="en-US" b="1" i="1">
                          <a:latin typeface="Cambria Math"/>
                        </a:rPr>
                        <m:t>𝒌</m:t>
                      </m:r>
                      <m:r>
                        <a:rPr lang="en-US" b="1" i="1">
                          <a:latin typeface="Cambria Math"/>
                        </a:rPr>
                        <m:t> )</m:t>
                      </m:r>
                    </m:oMath>
                  </m:oMathPara>
                </a14:m>
                <a:endParaRPr lang="en-US" sz="1800" b="1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1800" dirty="0"/>
                  <a:t>Any “</a:t>
                </a:r>
                <a:r>
                  <a:rPr lang="en-US" sz="1800" dirty="0" err="1"/>
                  <a:t>steppy</a:t>
                </a:r>
                <a:r>
                  <a:rPr lang="en-US" sz="1800" dirty="0"/>
                  <a:t>” value function with 0/1 (or maybe -1/0/1) data might work!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Don’t just use Reach/TURF – consider business issue and real “value”!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186961"/>
                <a:ext cx="8169293" cy="3163583"/>
              </a:xfrm>
              <a:blipFill rotWithShape="1">
                <a:blip r:embed="rId2"/>
                <a:stretch>
                  <a:fillRect l="-1866" t="-2312" b="-14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28</a:t>
            </a:fld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2049517" y="2785242"/>
            <a:ext cx="271869" cy="461665"/>
          </a:xfrm>
          <a:prstGeom prst="rect">
            <a:avLst/>
          </a:prstGeom>
          <a:noFill/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b="1" dirty="0">
                <a:solidFill>
                  <a:srgbClr val="C00000"/>
                </a:solidFill>
              </a:rPr>
              <a:t>+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44267" y="3263452"/>
            <a:ext cx="271869" cy="461665"/>
          </a:xfrm>
          <a:prstGeom prst="rect">
            <a:avLst/>
          </a:prstGeom>
          <a:noFill/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b="1" dirty="0">
                <a:solidFill>
                  <a:srgbClr val="C00000"/>
                </a:solidFill>
              </a:rPr>
              <a:t>+</a:t>
            </a:r>
            <a:endParaRPr lang="en-US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952802"/>
      </p:ext>
    </p:extLst>
  </p:cSld>
  <p:clrMapOvr>
    <a:masterClrMapping/>
  </p:clrMapOvr>
  <p:transition spd="med" advTm="33958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Won’t Work?  Use a Random Sample!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 all value functions are “</a:t>
            </a:r>
            <a:r>
              <a:rPr lang="en-US" dirty="0" err="1"/>
              <a:t>steppy</a:t>
            </a:r>
            <a:r>
              <a:rPr lang="en-US" dirty="0"/>
              <a:t>”; not all data is simple nominal.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Easy answer: random sample of combinations of each size.</a:t>
            </a:r>
          </a:p>
          <a:p>
            <a:pPr>
              <a:spcBef>
                <a:spcPts val="240"/>
              </a:spcBef>
            </a:pPr>
            <a:r>
              <a:rPr lang="en-US" dirty="0"/>
              <a:t>As we’ve seen, just have to average the averages for the different sizes together.</a:t>
            </a:r>
          </a:p>
          <a:p>
            <a:pPr>
              <a:spcBef>
                <a:spcPts val="240"/>
              </a:spcBef>
            </a:pPr>
            <a:r>
              <a:rPr lang="en-US" dirty="0"/>
              <a:t>Works for </a:t>
            </a:r>
            <a:r>
              <a:rPr lang="en-US" dirty="0">
                <a:solidFill>
                  <a:srgbClr val="C00000"/>
                </a:solidFill>
              </a:rPr>
              <a:t>any</a:t>
            </a:r>
            <a:r>
              <a:rPr lang="en-US" dirty="0"/>
              <a:t> value function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000000"/>
                </a:solidFill>
              </a:rPr>
              <a:t>More details in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67451953"/>
      </p:ext>
    </p:extLst>
  </p:cSld>
  <p:clrMapOvr>
    <a:masterClrMapping/>
  </p:clrMapOvr>
  <p:transition spd="med" advTm="33352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“TURF” and MaxDiff – How??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163811"/>
                <a:ext cx="7742237" cy="3163583"/>
              </a:xfrm>
            </p:spPr>
            <p:txBody>
              <a:bodyPr/>
              <a:lstStyle/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Option 1:  Make underlying respondent data (MaxDiff scores/utilities) 0/1.</a:t>
                </a:r>
              </a:p>
              <a:p>
                <a:pPr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sz="1800" dirty="0"/>
                  <a:t>Can say top-ranked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𝒎</m:t>
                    </m:r>
                  </m:oMath>
                </a14:m>
                <a:r>
                  <a:rPr lang="en-US" sz="1800" dirty="0"/>
                  <a:t> items are hits (1), rest are not (0)</a:t>
                </a:r>
              </a:p>
              <a:p>
                <a:pPr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sz="1800" dirty="0"/>
                  <a:t>Or, can say any score (or utility) above some cutoff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sz="1800" dirty="0"/>
                  <a:t> is a hit</a:t>
                </a:r>
              </a:p>
              <a:p>
                <a:pPr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sz="1800" dirty="0"/>
                  <a:t>Once done, it’s just a </a:t>
                </a:r>
                <a:r>
                  <a:rPr lang="en-US" sz="1800" dirty="0">
                    <a:solidFill>
                      <a:srgbClr val="0033CC"/>
                    </a:solidFill>
                  </a:rPr>
                  <a:t>standard TURF </a:t>
                </a:r>
                <a:r>
                  <a:rPr lang="en-US" sz="1800" dirty="0"/>
                  <a:t>problem, including fast computation of SVs.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rgbClr val="C00000"/>
                    </a:solidFill>
                  </a:rPr>
                  <a:t>But why do MaxDiff and then throw away the granularity? 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sz="1600" dirty="0"/>
                  <a:t>No worse than using top-2-box on ratings to do TURF, or top 5 items from a ranking, which are common.  But still!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163811"/>
                <a:ext cx="7742237" cy="3163583"/>
              </a:xfrm>
              <a:blipFill rotWithShape="1">
                <a:blip r:embed="rId2"/>
                <a:stretch>
                  <a:fillRect l="-1811" t="-2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7744094"/>
      </p:ext>
    </p:extLst>
  </p:cSld>
  <p:clrMapOvr>
    <a:masterClrMapping/>
  </p:clrMapOvr>
  <p:transition spd="med" advTm="40386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“TURF” and MaxDiff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886011"/>
                <a:ext cx="7869016" cy="31635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Option 2:  “Weighted Probability” as the value function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sz="1800" b="1" i="1" dirty="0" smtClean="0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= </m:t>
                    </m:r>
                    <m:r>
                      <a:rPr lang="en-US" sz="1800" b="1" i="1" dirty="0" err="1" smtClean="0">
                        <a:latin typeface="Cambria Math"/>
                      </a:rPr>
                      <m:t>𝒆𝒙𝒑</m:t>
                    </m:r>
                    <m:r>
                      <a:rPr lang="en-US" sz="1800" b="1" i="1" dirty="0" smtClean="0">
                        <a:latin typeface="Cambria Math"/>
                      </a:rPr>
                      <m:t>⁡( 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/>
                          </a:rPr>
                          <m:t>𝒖𝒕𝒊𝒍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b="1" dirty="0"/>
                  <a:t>, </a:t>
                </a:r>
                <a:r>
                  <a:rPr lang="en-US" sz="1800" dirty="0"/>
                  <a:t>scores for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individual</a:t>
                </a:r>
                <a:r>
                  <a:rPr lang="en-US" sz="1800" b="1" dirty="0">
                    <a:solidFill>
                      <a:srgbClr val="0033CC"/>
                    </a:solidFill>
                  </a:rPr>
                  <a:t> </a:t>
                </a:r>
                <a:r>
                  <a:rPr lang="en-US" sz="1800" dirty="0"/>
                  <a:t>items can be: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b="1" i="1" smtClean="0">
                                <a:latin typeface="Cambria Math"/>
                              </a:rPr>
                              <m:t>𝒋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𝑵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sz="1800" dirty="0"/>
                  <a:t> Repercentaged (</a:t>
                </a:r>
                <a:r>
                  <a:rPr lang="en-US" sz="1800" dirty="0">
                    <a:solidFill>
                      <a:srgbClr val="0033CC"/>
                    </a:solidFill>
                  </a:rPr>
                  <a:t>standard MNL </a:t>
                </a:r>
                <a:r>
                  <a:rPr lang="en-US" sz="1800" dirty="0"/>
                  <a:t>idea, pre-2007 SSI standard)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𝒂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800" dirty="0"/>
                  <a:t> Current SSI default (</a:t>
                </a:r>
                <a:r>
                  <a:rPr lang="en-US" sz="1800" dirty="0" err="1"/>
                  <a:t>prob</a:t>
                </a:r>
                <a:r>
                  <a:rPr lang="en-US" sz="1800" dirty="0"/>
                  <a:t> of beating </a:t>
                </a:r>
                <a:r>
                  <a:rPr lang="en-US" sz="1800" dirty="0">
                    <a:solidFill>
                      <a:srgbClr val="0033CC"/>
                    </a:solidFill>
                  </a:rPr>
                  <a:t>a-1 “average”</a:t>
                </a:r>
                <a:r>
                  <a:rPr lang="en-US" sz="1800" dirty="0"/>
                  <a:t> items)</a:t>
                </a:r>
                <a:endParaRPr lang="en-US" sz="1800" b="1" dirty="0"/>
              </a:p>
              <a:p>
                <a:pPr lv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Utilities must be zero-centered before exponentiation in this method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olidFill>
                      <a:srgbClr val="0033CC"/>
                    </a:solidFill>
                  </a:rPr>
                  <a:t>Anchored</a:t>
                </a:r>
                <a:r>
                  <a:rPr lang="en-US" sz="1800" dirty="0"/>
                  <a:t> method (probability of beating no-buy “anchor”)</a:t>
                </a:r>
              </a:p>
              <a:p>
                <a:pPr lv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/>
                  <a:t>Utility of anchor must be zero, and rest are based off that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Weighted probability </a:t>
                </a:r>
                <a:r>
                  <a:rPr lang="en-US" dirty="0"/>
                  <a:t>form of </a:t>
                </a:r>
                <a:r>
                  <a:rPr lang="en-US" b="1" dirty="0">
                    <a:solidFill>
                      <a:srgbClr val="C00000"/>
                    </a:solidFill>
                  </a:rPr>
                  <a:t>total</a:t>
                </a:r>
                <a:r>
                  <a:rPr lang="en-US" dirty="0"/>
                  <a:t> score measure for a </a:t>
                </a:r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combination</a:t>
                </a:r>
                <a:r>
                  <a:rPr lang="en-US" dirty="0"/>
                  <a:t>: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Just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in any case by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/>
                          </a:rPr>
                          <m:t>∈</m:t>
                        </m:r>
                        <m:r>
                          <a:rPr lang="en-US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𝑺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-- total of scores for the combo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886011"/>
                <a:ext cx="7869016" cy="3163583"/>
              </a:xfrm>
              <a:blipFill rotWithShape="1">
                <a:blip r:embed="rId2"/>
                <a:stretch>
                  <a:fillRect l="-1936" t="-2119" r="-1394" b="-43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31</a:t>
            </a:fld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109937"/>
      </p:ext>
    </p:extLst>
  </p:cSld>
  <p:clrMapOvr>
    <a:masterClrMapping/>
  </p:clrMapOvr>
  <p:transition spd="med" advTm="70162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927" y="400050"/>
            <a:ext cx="7742237" cy="391257"/>
          </a:xfrm>
        </p:spPr>
        <p:txBody>
          <a:bodyPr/>
          <a:lstStyle/>
          <a:p>
            <a:r>
              <a:rPr lang="en-US" dirty="0"/>
              <a:t>“TURF” and MaxDiff with Weighted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916298"/>
            <a:ext cx="4820360" cy="332300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If using </a:t>
            </a:r>
            <a:r>
              <a:rPr lang="en-US" sz="1800" dirty="0">
                <a:solidFill>
                  <a:srgbClr val="0033CC"/>
                </a:solidFill>
              </a:rPr>
              <a:t>MNL total score rule</a:t>
            </a:r>
            <a:r>
              <a:rPr lang="en-US" sz="1800" dirty="0"/>
              <a:t>, value function is strictly additive over items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SVs’ differencing exactly undoes the addition; </a:t>
            </a:r>
            <a:r>
              <a:rPr lang="en-US" sz="1800" dirty="0">
                <a:solidFill>
                  <a:srgbClr val="C00000"/>
                </a:solidFill>
              </a:rPr>
              <a:t>SVs </a:t>
            </a:r>
            <a:r>
              <a:rPr lang="en-US" sz="1800" b="1" dirty="0">
                <a:solidFill>
                  <a:srgbClr val="C00000"/>
                </a:solidFill>
              </a:rPr>
              <a:t>≡</a:t>
            </a:r>
            <a:r>
              <a:rPr lang="en-US" sz="1800" dirty="0">
                <a:solidFill>
                  <a:srgbClr val="C00000"/>
                </a:solidFill>
              </a:rPr>
              <a:t> original item means</a:t>
            </a:r>
            <a:r>
              <a:rPr lang="en-US" sz="1800" dirty="0"/>
              <a:t>!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/>
              <a:t>(Same for standard TURF frequency: purely additive, so SVs </a:t>
            </a:r>
            <a:r>
              <a:rPr lang="en-US" sz="1600" b="1" dirty="0"/>
              <a:t>≡</a:t>
            </a:r>
            <a:r>
              <a:rPr lang="en-US" sz="1600" dirty="0"/>
              <a:t> means)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/>
              <a:t>Other scores are not purely additive, so not so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No fast computation; enumerate or sample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32</a:t>
            </a:fld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562" y="690304"/>
            <a:ext cx="3333138" cy="33331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82087" y="3759968"/>
            <a:ext cx="2257065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/>
              <a:t>Sum of Item Scores</a:t>
            </a:r>
          </a:p>
        </p:txBody>
      </p:sp>
      <p:sp>
        <p:nvSpPr>
          <p:cNvPr id="13" name="TextBox 12"/>
          <p:cNvSpPr txBox="1"/>
          <p:nvPr/>
        </p:nvSpPr>
        <p:spPr>
          <a:xfrm rot="-5400000">
            <a:off x="4085026" y="2050195"/>
            <a:ext cx="3203053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 err="1"/>
              <a:t>Wtd</a:t>
            </a:r>
            <a:r>
              <a:rPr lang="en-US" sz="1600" b="1" dirty="0"/>
              <a:t> </a:t>
            </a:r>
            <a:r>
              <a:rPr lang="en-US" sz="1600" b="1" dirty="0" err="1"/>
              <a:t>Prob</a:t>
            </a:r>
            <a:r>
              <a:rPr lang="en-US" sz="1600" b="1" dirty="0"/>
              <a:t> Score for Combo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696" y="1191120"/>
            <a:ext cx="2257065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>
                <a:solidFill>
                  <a:srgbClr val="0033CC"/>
                </a:solidFill>
              </a:rPr>
              <a:t>MNL straight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567910" y="2987053"/>
                <a:ext cx="2257065" cy="338554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9900"/>
                        </a:solidFill>
                        <a:latin typeface="Cambria Math"/>
                      </a:rPr>
                      <m:t>𝒂</m:t>
                    </m:r>
                    <m:r>
                      <a:rPr lang="en-US" sz="1600" b="1" i="1" dirty="0" smtClean="0">
                        <a:solidFill>
                          <a:srgbClr val="00990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 smtClean="0">
                        <a:solidFill>
                          <a:srgbClr val="00990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b="1" dirty="0">
                    <a:solidFill>
                      <a:srgbClr val="009900"/>
                    </a:solidFill>
                  </a:rPr>
                  <a:t> average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910" y="2987053"/>
                <a:ext cx="2257065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270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993642" y="2089283"/>
            <a:ext cx="2257065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Anchored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0007" y="690303"/>
            <a:ext cx="3671693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405159" y="3769615"/>
            <a:ext cx="5776927" cy="1038910"/>
            <a:chOff x="405159" y="3769615"/>
            <a:chExt cx="5776927" cy="1038910"/>
          </a:xfrm>
        </p:grpSpPr>
        <p:sp>
          <p:nvSpPr>
            <p:cNvPr id="22" name="Right Arrow 21"/>
            <p:cNvSpPr/>
            <p:nvPr/>
          </p:nvSpPr>
          <p:spPr bwMode="auto">
            <a:xfrm>
              <a:off x="1657909" y="3769615"/>
              <a:ext cx="975232" cy="1038910"/>
            </a:xfrm>
            <a:prstGeom prst="rightArrow">
              <a:avLst/>
            </a:prstGeom>
            <a:solidFill>
              <a:schemeClr val="bg2"/>
            </a:solidFill>
            <a:ln w="285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accent1"/>
                </a:buClr>
                <a:buSzTx/>
                <a:tabLst/>
              </a:pPr>
              <a:endPara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3" name="Right Arrow 22"/>
            <p:cNvSpPr/>
            <p:nvPr/>
          </p:nvSpPr>
          <p:spPr bwMode="auto">
            <a:xfrm>
              <a:off x="4375521" y="3791737"/>
              <a:ext cx="817765" cy="947337"/>
            </a:xfrm>
            <a:prstGeom prst="rightArrow">
              <a:avLst/>
            </a:prstGeom>
            <a:solidFill>
              <a:schemeClr val="bg2"/>
            </a:solidFill>
            <a:ln w="285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accent1"/>
                </a:buClr>
                <a:buSzTx/>
                <a:tabLst/>
              </a:pPr>
              <a:endPara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2791934" y="3820998"/>
              <a:ext cx="1397346" cy="90147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accent1"/>
                </a:buClr>
                <a:buSzTx/>
                <a:tabLst/>
              </a:pPr>
              <a:endPara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5" name="Rounded Rectangle 24"/>
            <p:cNvSpPr/>
            <p:nvPr/>
          </p:nvSpPr>
          <p:spPr bwMode="auto">
            <a:xfrm>
              <a:off x="5356381" y="4010826"/>
              <a:ext cx="825705" cy="5545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accent1"/>
                </a:buClr>
                <a:buSzTx/>
                <a:tabLst/>
              </a:pPr>
              <a:endPara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6" name="Rounded Rectangle 25"/>
            <p:cNvSpPr/>
            <p:nvPr/>
          </p:nvSpPr>
          <p:spPr bwMode="auto">
            <a:xfrm>
              <a:off x="405159" y="4003546"/>
              <a:ext cx="1094311" cy="5545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accent1"/>
                </a:buClr>
                <a:buSzTx/>
                <a:tabLst/>
              </a:pPr>
              <a:endPara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77834" y="3988717"/>
            <a:ext cx="1362916" cy="553998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/>
              <a:t>Items 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b="1" dirty="0"/>
              <a:t>(MD scores)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443738" y="3994347"/>
            <a:ext cx="642943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/>
              <a:t>Items (SVs)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3455" y="3982772"/>
            <a:ext cx="992431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/>
              <a:t>Shapley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2835" y="3982773"/>
            <a:ext cx="1151224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 err="1"/>
              <a:t>Weight’d</a:t>
            </a:r>
            <a:r>
              <a:rPr lang="en-US" sz="1600" b="1" dirty="0"/>
              <a:t> </a:t>
            </a:r>
            <a:r>
              <a:rPr lang="en-US" sz="1600" b="1" dirty="0" err="1"/>
              <a:t>Prob’lity</a:t>
            </a:r>
            <a:endParaRPr lang="en-US" sz="1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032564" y="4110098"/>
            <a:ext cx="1040966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/>
              <a:t>Combos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8299" y="4558120"/>
            <a:ext cx="4542886" cy="40011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b="1" dirty="0">
                <a:solidFill>
                  <a:srgbClr val="C00000"/>
                </a:solidFill>
              </a:rPr>
              <a:t>How much is really happening here?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615" y="3362763"/>
            <a:ext cx="3606115" cy="369332"/>
          </a:xfrm>
          <a:prstGeom prst="rect">
            <a:avLst/>
          </a:prstGeom>
          <a:noFill/>
        </p:spPr>
        <p:txBody>
          <a:bodyPr wrap="non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rgbClr val="C00000"/>
                </a:solidFill>
              </a:rPr>
              <a:t>But they’re not that </a:t>
            </a:r>
            <a:r>
              <a:rPr lang="en-US" sz="1800" b="1" u="sng" dirty="0">
                <a:solidFill>
                  <a:srgbClr val="C00000"/>
                </a:solidFill>
              </a:rPr>
              <a:t>far</a:t>
            </a:r>
            <a:r>
              <a:rPr lang="en-US" sz="1800" dirty="0">
                <a:solidFill>
                  <a:srgbClr val="C00000"/>
                </a:solidFill>
              </a:rPr>
              <a:t> from linear!</a:t>
            </a: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1625496"/>
      </p:ext>
    </p:extLst>
  </p:cSld>
  <p:clrMapOvr>
    <a:masterClrMapping/>
  </p:clrMapOvr>
  <p:transition spd="med" advTm="22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7" grpId="0"/>
      <p:bldP spid="7" grpId="0"/>
      <p:bldP spid="28" grpId="0"/>
      <p:bldP spid="8" grpId="0"/>
      <p:bldP spid="9" grpId="0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400050"/>
            <a:ext cx="7742237" cy="391257"/>
          </a:xfrm>
        </p:spPr>
        <p:txBody>
          <a:bodyPr/>
          <a:lstStyle/>
          <a:p>
            <a:r>
              <a:rPr lang="en-US" dirty="0"/>
              <a:t>“TURF” and MaxDiff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955461"/>
                <a:ext cx="4500118" cy="332716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Option 3:  Threshold on weighted probability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What do “real” TURF value functions look like?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So, restore the </a:t>
                </a:r>
                <a:r>
                  <a:rPr lang="en-US" sz="1800" i="1" dirty="0">
                    <a:solidFill>
                      <a:srgbClr val="C00000"/>
                    </a:solidFill>
                  </a:rPr>
                  <a:t>threshold</a:t>
                </a:r>
                <a:r>
                  <a:rPr lang="en-US" sz="1800" dirty="0"/>
                  <a:t> feature of TURF</a:t>
                </a:r>
              </a:p>
              <a:p>
                <a:pPr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𝒅</m:t>
                    </m:r>
                  </m:oMath>
                </a14:m>
                <a:r>
                  <a:rPr lang="en-US" sz="1800" dirty="0"/>
                  <a:t> is arbitrary, like any TURF depth is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For SVs, no short-cut computation; must enumerate or sample combinations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rgbClr val="0033CC"/>
                    </a:solidFill>
                  </a:rPr>
                  <a:t>Much more TURF-like.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But</a:t>
                </a:r>
                <a:r>
                  <a:rPr lang="en-US" sz="1800" dirty="0"/>
                  <a:t>, ask whether more reasonable from business standpoint—maybe, maybe not!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955461"/>
                <a:ext cx="4500118" cy="3327166"/>
              </a:xfrm>
              <a:blipFill rotWithShape="1">
                <a:blip r:embed="rId3"/>
                <a:stretch>
                  <a:fillRect l="-3112" t="-2198" r="-2842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33</a:t>
            </a:fld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6182087" y="3990193"/>
            <a:ext cx="2257065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/>
              <a:t>Sum of Item Scores</a:t>
            </a:r>
          </a:p>
        </p:txBody>
      </p:sp>
      <p:sp>
        <p:nvSpPr>
          <p:cNvPr id="13" name="TextBox 12"/>
          <p:cNvSpPr txBox="1"/>
          <p:nvPr/>
        </p:nvSpPr>
        <p:spPr>
          <a:xfrm rot="-5400000">
            <a:off x="3867758" y="2050195"/>
            <a:ext cx="3203053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 err="1"/>
              <a:t>Wtd</a:t>
            </a:r>
            <a:r>
              <a:rPr lang="en-US" sz="1600" b="1" dirty="0"/>
              <a:t> </a:t>
            </a:r>
            <a:r>
              <a:rPr lang="en-US" sz="1600" b="1" dirty="0" err="1"/>
              <a:t>Prob</a:t>
            </a:r>
            <a:r>
              <a:rPr lang="en-US" sz="1600" b="1" dirty="0"/>
              <a:t> Score for Combo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696" y="1191120"/>
            <a:ext cx="2257065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>
                <a:solidFill>
                  <a:srgbClr val="0033CC"/>
                </a:solidFill>
              </a:rPr>
              <a:t>MNL straight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567910" y="2987053"/>
                <a:ext cx="2257065" cy="338554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9900"/>
                        </a:solidFill>
                        <a:latin typeface="Cambria Math"/>
                      </a:rPr>
                      <m:t>𝒂</m:t>
                    </m:r>
                    <m:r>
                      <a:rPr lang="en-US" sz="1600" b="1" i="1" dirty="0" smtClean="0">
                        <a:solidFill>
                          <a:srgbClr val="00990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dirty="0" smtClean="0">
                        <a:solidFill>
                          <a:srgbClr val="00990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b="1" dirty="0">
                    <a:solidFill>
                      <a:srgbClr val="009900"/>
                    </a:solidFill>
                  </a:rPr>
                  <a:t> average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910" y="2987053"/>
                <a:ext cx="2257065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270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993642" y="2089283"/>
            <a:ext cx="2257065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Anchored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53391" y="2282852"/>
                <a:ext cx="1159159" cy="584775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rtlCol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</a:pPr>
                <a:r>
                  <a:rPr lang="en-US" sz="1600" b="1" dirty="0">
                    <a:solidFill>
                      <a:srgbClr val="FF0000"/>
                    </a:solidFill>
                  </a:rPr>
                  <a:t>Threshold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𝒅</m:t>
                    </m:r>
                  </m:oMath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391" y="2282852"/>
                <a:ext cx="1159159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6806" t="-3125" r="-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300007" y="698820"/>
            <a:ext cx="3671816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432" y="691656"/>
            <a:ext cx="3660241" cy="366024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97033" y="698820"/>
            <a:ext cx="3925141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432" y="687245"/>
            <a:ext cx="3660241" cy="3660241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 bwMode="auto">
          <a:xfrm>
            <a:off x="1666754" y="2196337"/>
            <a:ext cx="1111170" cy="0"/>
          </a:xfrm>
          <a:prstGeom prst="line">
            <a:avLst/>
          </a:prstGeom>
          <a:solidFill>
            <a:schemeClr val="bg1"/>
          </a:solidFill>
          <a:ln w="3175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>
            <a:off x="2777924" y="1857783"/>
            <a:ext cx="752354" cy="0"/>
          </a:xfrm>
          <a:prstGeom prst="line">
            <a:avLst/>
          </a:prstGeom>
          <a:solidFill>
            <a:schemeClr val="bg1"/>
          </a:solidFill>
          <a:ln w="3175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2777924" y="1846208"/>
            <a:ext cx="0" cy="338554"/>
          </a:xfrm>
          <a:prstGeom prst="line">
            <a:avLst/>
          </a:prstGeom>
          <a:solidFill>
            <a:schemeClr val="bg1"/>
          </a:solidFill>
          <a:ln w="3175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253707" y="698820"/>
            <a:ext cx="3694966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6205781"/>
      </p:ext>
    </p:extLst>
  </p:cSld>
  <p:clrMapOvr>
    <a:masterClrMapping/>
  </p:clrMapOvr>
  <p:transition spd="med" advTm="526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Shapley Values!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1065124"/>
            <a:ext cx="7742237" cy="3163583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Intuitive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dirty="0"/>
              <a:t>Average contribution to a combination, weighting combo sizes equally (TURF and other common MR situations)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dirty="0"/>
              <a:t>Averaging over orderings (KDRs or when focused on full set of items)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Useful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dirty="0"/>
              <a:t>More </a:t>
            </a:r>
            <a:r>
              <a:rPr lang="en-US" sz="1800" dirty="0">
                <a:solidFill>
                  <a:srgbClr val="0070C0"/>
                </a:solidFill>
              </a:rPr>
              <a:t>compact, insightful, memorable overview </a:t>
            </a:r>
            <a:r>
              <a:rPr lang="en-US" sz="1800" dirty="0"/>
              <a:t>than lists of combinations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dirty="0"/>
              <a:t>Also more stable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Easy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dirty="0"/>
              <a:t>Small problems are computationally easy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dirty="0"/>
              <a:t>Fast &amp; exact respondent-level </a:t>
            </a:r>
            <a:r>
              <a:rPr lang="en-US" sz="1800" dirty="0" err="1"/>
              <a:t>calcs</a:t>
            </a:r>
            <a:r>
              <a:rPr lang="en-US" sz="1800" dirty="0"/>
              <a:t> in some (many?) TURF-like cases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dirty="0"/>
              <a:t>Sampling in reasonable time for large hard-algebra problems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00087247"/>
      </p:ext>
    </p:extLst>
  </p:cSld>
  <p:clrMapOvr>
    <a:masterClrMapping/>
  </p:clrMapOvr>
  <p:transition spd="med" advTm="66807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R code for many of the basics discussed here is included in the handout zip file.</a:t>
            </a:r>
          </a:p>
          <a:p>
            <a:r>
              <a:rPr lang="en-US" sz="1600" dirty="0"/>
              <a:t>Like everything in R, use at your own risk.  Study it first!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R package </a:t>
            </a:r>
            <a:r>
              <a:rPr lang="en-US" sz="1800" b="1" i="1" dirty="0" err="1"/>
              <a:t>relaimpo</a:t>
            </a:r>
            <a:r>
              <a:rPr lang="en-US" sz="1800" dirty="0"/>
              <a:t> (relative importance) does key-driver regression kinds of things with Shapley Values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R package </a:t>
            </a:r>
            <a:r>
              <a:rPr lang="en-US" sz="1800" b="1" i="1" dirty="0" err="1"/>
              <a:t>turfR</a:t>
            </a:r>
            <a:r>
              <a:rPr lang="en-US" sz="1800" b="1" i="1" dirty="0"/>
              <a:t> </a:t>
            </a:r>
            <a:r>
              <a:rPr lang="en-US" sz="1800" dirty="0"/>
              <a:t>(Jack Horne) does TURF, but not Shapley Values.</a:t>
            </a:r>
          </a:p>
          <a:p>
            <a:r>
              <a:rPr lang="en-US" sz="1600" dirty="0"/>
              <a:t>Faster than my code for TURF, but at the cost of very high memory use, so for smaller problem sizes.</a:t>
            </a:r>
          </a:p>
          <a:p>
            <a:pPr marL="0" indent="0">
              <a:buNone/>
            </a:pPr>
            <a:r>
              <a:rPr lang="en-US" sz="1800" dirty="0"/>
              <a:t>R package </a:t>
            </a:r>
            <a:r>
              <a:rPr lang="en-US" sz="1800" b="1" i="1" dirty="0"/>
              <a:t>turf</a:t>
            </a:r>
            <a:r>
              <a:rPr lang="en-US" sz="1800" dirty="0"/>
              <a:t> is not very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64507493"/>
      </p:ext>
    </p:extLst>
  </p:cSld>
  <p:clrMapOvr>
    <a:masterClrMapping/>
  </p:clrMapOvr>
  <p:transition spd="med" advTm="35533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48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4800" b="1" dirty="0">
                <a:solidFill>
                  <a:srgbClr val="002060"/>
                </a:solidFill>
              </a:rPr>
              <a:t>     Discussion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52" y="612804"/>
            <a:ext cx="2667000" cy="37719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17932" y="4393334"/>
            <a:ext cx="3216166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/>
              <a:t>Lloyd Shapley, 1923-2016, in 2012</a:t>
            </a:r>
          </a:p>
        </p:txBody>
      </p:sp>
    </p:spTree>
    <p:extLst>
      <p:ext uri="{BB962C8B-B14F-4D97-AF65-F5344CB8AC3E}">
        <p14:creationId xmlns:p14="http://schemas.microsoft.com/office/powerpoint/2010/main" val="3319649344"/>
      </p:ext>
    </p:extLst>
  </p:cSld>
  <p:clrMapOvr>
    <a:masterClrMapping/>
  </p:clrMapOvr>
  <p:transition spd="med" advTm="772356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See Also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7648299" cy="3163490"/>
          </a:xfr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Michael Conklin and Stan </a:t>
            </a:r>
            <a:r>
              <a:rPr lang="en-US" sz="1800" dirty="0" err="1"/>
              <a:t>Lipovetsky</a:t>
            </a:r>
            <a:r>
              <a:rPr lang="en-US" sz="1800" dirty="0"/>
              <a:t>, “The Shapley Value in Marketing Research: 15 Years and Counting,” </a:t>
            </a:r>
            <a:r>
              <a:rPr lang="en-US" sz="1800" i="1" dirty="0"/>
              <a:t>Proceedings of the 2013 Sawtooth Software Conference</a:t>
            </a:r>
            <a:r>
              <a:rPr lang="en-US" sz="1800" dirty="0"/>
              <a:t> (downloadable online, free).  It includes a good list of (more-rigorous, more-theoretical) other references.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20126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9|14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0.6|0.5|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15.2|9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5|9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5|7.3|5|10.3|19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5|0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heme/theme1.xml><?xml version="1.0" encoding="utf-8"?>
<a:theme xmlns:a="http://schemas.openxmlformats.org/drawingml/2006/main" name="SKIM">
  <a:themeElements>
    <a:clrScheme name="SKIM 5">
      <a:dk1>
        <a:srgbClr val="505050"/>
      </a:dk1>
      <a:lt1>
        <a:srgbClr val="FFFFFF"/>
      </a:lt1>
      <a:dk2>
        <a:srgbClr val="004C99"/>
      </a:dk2>
      <a:lt2>
        <a:srgbClr val="A0E1FF"/>
      </a:lt2>
      <a:accent1>
        <a:srgbClr val="00AADB"/>
      </a:accent1>
      <a:accent2>
        <a:srgbClr val="F29754"/>
      </a:accent2>
      <a:accent3>
        <a:srgbClr val="C9D200"/>
      </a:accent3>
      <a:accent4>
        <a:srgbClr val="4E106C"/>
      </a:accent4>
      <a:accent5>
        <a:srgbClr val="5EBF7D"/>
      </a:accent5>
      <a:accent6>
        <a:srgbClr val="BF5662"/>
      </a:accent6>
      <a:hlink>
        <a:srgbClr val="000000"/>
      </a:hlink>
      <a:folHlink>
        <a:srgbClr val="000000"/>
      </a:folHlink>
    </a:clrScheme>
    <a:fontScheme name="SKIM PowerPoint 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chemeClr val="bg2"/>
          </a:solidFill>
          <a:prstDash val="solid"/>
          <a:round/>
          <a:headEnd type="none" w="med" len="med"/>
          <a:tailEnd type="stealth" w="med" len="med"/>
        </a:ln>
        <a:effectLst/>
      </a:spPr>
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>
            <a:schemeClr val="accent1"/>
          </a:buClr>
          <a:buSzTx/>
          <a:tabLst/>
          <a:defRPr kumimoji="0" sz="14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solidFill>
          <a:schemeClr val="bg1"/>
        </a:solidFill>
        <a:ln w="2857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45720" tIns="45720" rIns="45720" bIns="45720" rtlCol="0">
        <a:spAutoFit/>
      </a:bodyPr>
      <a:lstStyle>
        <a:defPPr>
          <a:spcBef>
            <a:spcPts val="0"/>
          </a:spcBef>
          <a:spcAft>
            <a:spcPts val="0"/>
          </a:spcAft>
          <a:buClr>
            <a:schemeClr val="accent1"/>
          </a:buClr>
          <a:defRPr sz="1400" dirty="0" smtClean="0"/>
        </a:defPPr>
      </a:lstStyle>
    </a:txDef>
  </a:objectDefaults>
  <a:extraClrSchemeLst>
    <a:extraClrScheme>
      <a:clrScheme name="SKIM PowerPoint template 1">
        <a:dk1>
          <a:srgbClr val="6F6F6F"/>
        </a:dk1>
        <a:lt1>
          <a:srgbClr val="FFFFFF"/>
        </a:lt1>
        <a:dk2>
          <a:srgbClr val="FFFFFF"/>
        </a:dk2>
        <a:lt2>
          <a:srgbClr val="A7DDEA"/>
        </a:lt2>
        <a:accent1>
          <a:srgbClr val="00AADB"/>
        </a:accent1>
        <a:accent2>
          <a:srgbClr val="C9D200"/>
        </a:accent2>
        <a:accent3>
          <a:srgbClr val="FFFFFF"/>
        </a:accent3>
        <a:accent4>
          <a:srgbClr val="5E5E5E"/>
        </a:accent4>
        <a:accent5>
          <a:srgbClr val="AAD2EA"/>
        </a:accent5>
        <a:accent6>
          <a:srgbClr val="B6BE00"/>
        </a:accent6>
        <a:hlink>
          <a:srgbClr val="004C99"/>
        </a:hlink>
        <a:folHlink>
          <a:srgbClr val="F297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2">
        <a:dk1>
          <a:srgbClr val="6F6F6F"/>
        </a:dk1>
        <a:lt1>
          <a:srgbClr val="FFFFFF"/>
        </a:lt1>
        <a:dk2>
          <a:srgbClr val="FFFFFF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5E5E5E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3">
        <a:dk1>
          <a:srgbClr val="292929"/>
        </a:dk1>
        <a:lt1>
          <a:srgbClr val="FFFFFF"/>
        </a:lt1>
        <a:dk2>
          <a:srgbClr val="FFFFFF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212121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4">
        <a:dk1>
          <a:srgbClr val="333333"/>
        </a:dk1>
        <a:lt1>
          <a:srgbClr val="FFFFFF"/>
        </a:lt1>
        <a:dk2>
          <a:srgbClr val="FFFFFF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2A2A2A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5">
        <a:dk1>
          <a:srgbClr val="080808"/>
        </a:dk1>
        <a:lt1>
          <a:srgbClr val="FFFFFF"/>
        </a:lt1>
        <a:dk2>
          <a:srgbClr val="004C99"/>
        </a:dk2>
        <a:lt2>
          <a:srgbClr val="C3DCF5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060606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6">
        <a:dk1>
          <a:srgbClr val="080808"/>
        </a:dk1>
        <a:lt1>
          <a:srgbClr val="FFFFFF"/>
        </a:lt1>
        <a:dk2>
          <a:srgbClr val="004C99"/>
        </a:dk2>
        <a:lt2>
          <a:srgbClr val="A7DDEA"/>
        </a:lt2>
        <a:accent1>
          <a:srgbClr val="A7DDEA"/>
        </a:accent1>
        <a:accent2>
          <a:srgbClr val="F29754"/>
        </a:accent2>
        <a:accent3>
          <a:srgbClr val="FFFFFF"/>
        </a:accent3>
        <a:accent4>
          <a:srgbClr val="060606"/>
        </a:accent4>
        <a:accent5>
          <a:srgbClr val="D0EBF3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7">
        <a:dk1>
          <a:srgbClr val="080808"/>
        </a:dk1>
        <a:lt1>
          <a:srgbClr val="FFFFFF"/>
        </a:lt1>
        <a:dk2>
          <a:srgbClr val="004C99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060606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8">
        <a:dk1>
          <a:srgbClr val="6F6F6F"/>
        </a:dk1>
        <a:lt1>
          <a:srgbClr val="FFFFFF"/>
        </a:lt1>
        <a:dk2>
          <a:srgbClr val="004C99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5E5E5E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9">
        <a:dk1>
          <a:srgbClr val="000000"/>
        </a:dk1>
        <a:lt1>
          <a:srgbClr val="FFFFFF"/>
        </a:lt1>
        <a:dk2>
          <a:srgbClr val="004C99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000000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10">
        <a:dk1>
          <a:srgbClr val="000000"/>
        </a:dk1>
        <a:lt1>
          <a:srgbClr val="FFFFFF"/>
        </a:lt1>
        <a:dk2>
          <a:srgbClr val="004C99"/>
        </a:dk2>
        <a:lt2>
          <a:srgbClr val="B7E9FF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000000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11">
        <a:dk1>
          <a:srgbClr val="6F6F6F"/>
        </a:dk1>
        <a:lt1>
          <a:srgbClr val="FFFFFF"/>
        </a:lt1>
        <a:dk2>
          <a:srgbClr val="004C99"/>
        </a:dk2>
        <a:lt2>
          <a:srgbClr val="B7E9FF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5E5E5E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12">
        <a:dk1>
          <a:srgbClr val="505050"/>
        </a:dk1>
        <a:lt1>
          <a:srgbClr val="FFFFFF"/>
        </a:lt1>
        <a:dk2>
          <a:srgbClr val="004C99"/>
        </a:dk2>
        <a:lt2>
          <a:srgbClr val="A0E1FF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434343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KI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udience xmlns="http://schemas.microsoft.com/sharepoint/v3" xsi:nil="true"/>
    <edca3ed188ec40d69459e431e4b6395b xmlns="db3827c1-eafe-4f12-b5fe-8151cbe8a2a7">
      <Terms xmlns="http://schemas.microsoft.com/office/infopath/2007/PartnerControls"/>
    </edca3ed188ec40d69459e431e4b6395b>
    <PublishingExpirationDate xmlns="http://schemas.microsoft.com/sharepoint/v3" xsi:nil="true"/>
    <PublishingStartDate xmlns="http://schemas.microsoft.com/sharepoint/v3" xsi:nil="true"/>
    <TaxCatchAll xmlns="db3827c1-eafe-4f12-b5fe-8151cbe8a2a7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2301E9C6AAAF449E825CA8BCE893C2" ma:contentTypeVersion="4" ma:contentTypeDescription="Create a new document." ma:contentTypeScope="" ma:versionID="484bdd45f73d3754567022653edf3b29">
  <xsd:schema xmlns:xsd="http://www.w3.org/2001/XMLSchema" xmlns:xs="http://www.w3.org/2001/XMLSchema" xmlns:p="http://schemas.microsoft.com/office/2006/metadata/properties" xmlns:ns1="http://schemas.microsoft.com/sharepoint/v3" xmlns:ns2="db3827c1-eafe-4f12-b5fe-8151cbe8a2a7" targetNamespace="http://schemas.microsoft.com/office/2006/metadata/properties" ma:root="true" ma:fieldsID="4af094701ce9d915dde97ef77c97c565" ns1:_="" ns2:_="">
    <xsd:import namespace="http://schemas.microsoft.com/sharepoint/v3"/>
    <xsd:import namespace="db3827c1-eafe-4f12-b5fe-8151cbe8a2a7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1:Audience" minOccurs="0"/>
                <xsd:element ref="ns2:edca3ed188ec40d69459e431e4b6395b" minOccurs="0"/>
                <xsd:element ref="ns2:TaxCatchAll" minOccurs="0"/>
                <xsd:element ref="ns2:TaxCatchAllLabe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internalName="PublishingExpirationDate">
      <xsd:simpleType>
        <xsd:restriction base="dms:Unknown"/>
      </xsd:simpleType>
    </xsd:element>
    <xsd:element name="Audience" ma:index="10" nillable="true" ma:displayName="Target Audiences" ma:description="" ma:internalName="Audienc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827c1-eafe-4f12-b5fe-8151cbe8a2a7" elementFormDefault="qualified">
    <xsd:import namespace="http://schemas.microsoft.com/office/2006/documentManagement/types"/>
    <xsd:import namespace="http://schemas.microsoft.com/office/infopath/2007/PartnerControls"/>
    <xsd:element name="edca3ed188ec40d69459e431e4b6395b" ma:index="11" nillable="true" ma:taxonomy="true" ma:internalName="edca3ed188ec40d69459e431e4b6395b" ma:taxonomyFieldName="Folder_x0020_Tags" ma:displayName="Folder Tags" ma:default="" ma:fieldId="{edca3ed1-88ec-40d6-9459-e431e4b6395b}" ma:taxonomyMulti="true" ma:sspId="f66120e7-d31a-4f9f-a0af-f0b8506fa3e4" ma:termSetId="bbfc110d-1b53-48fa-8d8b-7aa30b00eb0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b73a25ab-30be-406b-8e70-8bd5976078cb}" ma:internalName="TaxCatchAll" ma:showField="CatchAllData" ma:web="db3827c1-eafe-4f12-b5fe-8151cbe8a2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b73a25ab-30be-406b-8e70-8bd5976078cb}" ma:internalName="TaxCatchAllLabel" ma:readOnly="true" ma:showField="CatchAllDataLabel" ma:web="db3827c1-eafe-4f12-b5fe-8151cbe8a2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71D2C2-E9B5-495C-8F95-7BB34ACC6F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5D0EBA-E47D-4E85-8659-891313119973}">
  <ds:schemaRefs>
    <ds:schemaRef ds:uri="http://purl.org/dc/elements/1.1/"/>
    <ds:schemaRef ds:uri="http://schemas.openxmlformats.org/package/2006/metadata/core-properties"/>
    <ds:schemaRef ds:uri="db3827c1-eafe-4f12-b5fe-8151cbe8a2a7"/>
    <ds:schemaRef ds:uri="http://purl.org/dc/terms/"/>
    <ds:schemaRef ds:uri="http://schemas.microsoft.com/office/2006/documentManagement/types"/>
    <ds:schemaRef ds:uri="http://www.w3.org/XML/1998/namespace"/>
    <ds:schemaRef ds:uri="http://schemas.microsoft.com/sharepoint/v3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C7C621C-D2A4-4D0B-B5A1-926D3BEF76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b3827c1-eafe-4f12-b5fe-8151cbe8a2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SKIM</Template>
  <TotalTime>76229</TotalTime>
  <Words>4346</Words>
  <Application>Microsoft Office PowerPoint</Application>
  <PresentationFormat>On-screen Show (16:9)</PresentationFormat>
  <Paragraphs>1034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Arial Unicode MS</vt:lpstr>
      <vt:lpstr>Calibri</vt:lpstr>
      <vt:lpstr>Cambria Math</vt:lpstr>
      <vt:lpstr>Lucida Grande</vt:lpstr>
      <vt:lpstr>SKIM</vt:lpstr>
      <vt:lpstr>1_Custom Design</vt:lpstr>
      <vt:lpstr>PowerPoint Presentation</vt:lpstr>
      <vt:lpstr>Shapley Values</vt:lpstr>
      <vt:lpstr>The Plan</vt:lpstr>
      <vt:lpstr>Key Driver Regressions</vt:lpstr>
      <vt:lpstr>Averaging Over Orderings (“AOO”)</vt:lpstr>
      <vt:lpstr>Side Notes About KDRs </vt:lpstr>
      <vt:lpstr>Orderings?  What About Combinations? </vt:lpstr>
      <vt:lpstr>Recasting as Combinations</vt:lpstr>
      <vt:lpstr>Shapley Values As Averages Over Combinations</vt:lpstr>
      <vt:lpstr>Ways To Go Wrong …. Weighting Matters!</vt:lpstr>
      <vt:lpstr>Shapley Values Averaged Over Combo Sizes</vt:lpstr>
      <vt:lpstr>Intuition</vt:lpstr>
      <vt:lpstr>TURF – Total Unduplicated Reach &amp; Frequency</vt:lpstr>
      <vt:lpstr>TURF Can Be Challenging</vt:lpstr>
      <vt:lpstr>Typical TURF Results ….</vt:lpstr>
      <vt:lpstr>Applying Shapley Values to TURF</vt:lpstr>
      <vt:lpstr>Typical Shapley Values for TURF</vt:lpstr>
      <vt:lpstr>Typical TURF Results ….</vt:lpstr>
      <vt:lpstr>Better than TURF, Or Just A Different View?</vt:lpstr>
      <vt:lpstr>The Computational Elephant</vt:lpstr>
      <vt:lpstr>SVs from TURF, at the Respondent Level</vt:lpstr>
      <vt:lpstr>SVs for TURF at the Respondent Level</vt:lpstr>
      <vt:lpstr>Exact Shapley Values via Respondent-Level TURF </vt:lpstr>
      <vt:lpstr>1/h – Really?</vt:lpstr>
      <vt:lpstr>What About Other Depths?</vt:lpstr>
      <vt:lpstr>It’s Just for TURFs, Right?  NO!</vt:lpstr>
      <vt:lpstr>It’s Just for “Real” TURFs, Right?  NO!</vt:lpstr>
      <vt:lpstr>Not Just for “Real” TURFs!</vt:lpstr>
      <vt:lpstr>Algebra Won’t Work?  Use a Random Sample!</vt:lpstr>
      <vt:lpstr>“TURF” and MaxDiff – How??</vt:lpstr>
      <vt:lpstr>“TURF” and MaxDiff</vt:lpstr>
      <vt:lpstr>“TURF” and MaxDiff with Weighted Probability</vt:lpstr>
      <vt:lpstr>“TURF” and MaxDiff</vt:lpstr>
      <vt:lpstr>Shapley Values!</vt:lpstr>
      <vt:lpstr>Software Notes</vt:lpstr>
      <vt:lpstr>PowerPoint Presentation</vt:lpstr>
      <vt:lpstr>See Also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Aligning Big Data Demographics with Survey Attitudes using Expectation-Maximization and Nested Logit Classifier Ensembles</dc:title>
  <dc:creator>Kevin Lattery</dc:creator>
  <cp:lastModifiedBy>David Lyon</cp:lastModifiedBy>
  <cp:revision>1983</cp:revision>
  <cp:lastPrinted>2016-09-07T01:10:19Z</cp:lastPrinted>
  <dcterms:created xsi:type="dcterms:W3CDTF">2013-05-23T14:51:36Z</dcterms:created>
  <dcterms:modified xsi:type="dcterms:W3CDTF">2026-04-21T19:52:12Z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0x010100F42301E9C6AAAF449E825CA8BCE893C2</vt:lpwstr>
  </property>
  <property fmtid="{D5CDD505-2E9C-101B-9397-08002B2CF9AE}" pid="3" name="Folder Tags">
    <vt:lpwstr/>
  </property>
</Properties>
</file>